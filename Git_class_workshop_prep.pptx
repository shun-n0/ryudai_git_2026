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Today: all 3 modules in the morning lecture, then a 3.5-hour hands-on workshop. Everything you learn will be used in the workshop.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expectations: they already know commit/push/pull. Each outcome maps to a workshop part this afternoon.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divider. Ask the room: who can tell me what happens when you run git commit? Collect 2-3 guesses.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real questions from past students. Promise: by the end of this section, both disappear.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 — run these 5 commands in a terminal on screen. Let students run along. The key point: HEAD is one line of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= safe everyday state. Right = detached. The danger: commits made while detached have no branch pointing at them → garbage collected. Fix: git checkout -b rescue.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slide (replaces the empty one). A commit = snapshot + parent pointer + metadata. History is a chain of these. Branches and HEAD are just labels on the chain. This mental model powers everything in Module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cat .git/refs/heads/main live. A branch is ONE file with ONE SHA. That's why branching in Git is instant and free.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SIMPLIFIED from GitFlow map. Start with GitHub Flow — that's what the workshop uses. Show GitFlow as 'the heavyweight option' with only 3 rules. Don't drill every GitFlow lane.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divider. One rule to remember from this whole module: never rebase pushed shared commits.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SETUP (do this in a scratch clone before class): edit any file 3 times, committing as 'wip', 'typo', 'PLEASE WORK'. LIVE: show git log --oneline and ask: could a reviewer understand what changed? Everyone laughs at PLEASE WORK — let them. Point: history is communication; you clean it BEFORE the PR. Keep this terminal open — slide 12 cleans this exact mess.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(continue from slide 11's messy repo): git rebase -i HEAD~3 → the editor opens → leave the first line as pick, change the two below to fixup → save+close → git log --oneline now shows ONE commit → git commit --amend to reword it nicely. Do it slowly; the editor screen is the scary part. 4 everyday actions = pick/reword/squash/fixup; drop is the dangerous 5th (deletes work). End on the Golden Rule — the one thing they must not forget.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cherry-pick: run git log --oneline, copy any earlier commit sha → git checkout -b demo-pick main → git cherry-pick &lt;sha&gt; → git log shows the commit copied over (new sha, same change!). LIVE stash: edit a file → git stash push -m 'demo WIP' → git status is clean → git stash list → git stash apply. Message: cherry-pick copies ONE commit anywhere; stash is a named shelf, not just push/pop.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STOP TEACHING HERE. Hand out EXERCISE1.txt (or post the link). Students build their OWN public repo and practice everything from slides 1-13, documenting every answer and output in README.md. 1.5 hours. They send you the repo URL when done. Circulate and help. Restart lecture at the section-3 divider when time is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divider. Theme: Git protects you — hooks stop mistakes before they happen, reflog undoes them after.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LIVE: ls .git/hooks/ — point at all the .sample files: every repo ships with disabled example hooks; removing .sample (and chmod +x) activates one. Focus on the two ★ rows — pre-commit and commit-msg — students install both in Exercise 2. The rest of the table is 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LIVE: cp hooks-examples/pre-commit .git/hooks/ → chmod +x .git/hooks/pre-commit → echo 'password = \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Scenario first: deep in a refactor, urgent bug arrives. LIVE: git worktree add ../demo-hotfix main → ls .. (two folders!) → cd ../demo-hotfix → git status (clean, on main) → touch fix.txt; git add .; git commit -m 'fix: demo' → cd back → git worktree list → git worktree remove ../demo-hotfix --force. Message: second folder, same .git, zero stashing.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(the crowd-pleaser): make 2 quick commits → git log --oneline (there they are) → git reset --hard HEAD~2 → git log (GONE — pause for effect) → git reflog (still there!) → git reset --hard HEAD@{2} → git log (back). One sentence to remember: Git almost never deletes commits; reflog is the diary of where HEAD has been. Students repeat this drill in Exercise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slide up during the break — it's the cheat sheet. Each card: symptom → 2-line fix. Rule 1 of secrets: rotate the key FIRST, removing from history is second.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full day: two lectures, two exercises, 4.5 hours of content plus a break. Exercise 2 instructions are in WORKSHOP_FINAL.md in the instructor repo; evidence goes to ANSWERS.md and the PR.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Grading is pass/fail on two deliverables: the Exercise 1 repo URL (README complete) and the Exercise 2 PR (ANSWERS.md Q1-Q3 with real output). Deadline 15:30.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2131219"/>
            <a:ext cx="1718310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git }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333500" y="2793206"/>
            <a:ext cx="17183100" cy="1138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304"/>
              </a:lnSpc>
              <a:buNone/>
            </a:pPr>
            <a:r>
              <a:rPr lang="en-US" sz="82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Mastering Git</a:t>
            </a:r>
            <a:endParaRPr lang="en-US" sz="8250" dirty="0"/>
          </a:p>
        </p:txBody>
      </p:sp>
      <p:sp>
        <p:nvSpPr>
          <p:cNvPr id="4" name="Text 2"/>
          <p:cNvSpPr/>
          <p:nvPr/>
        </p:nvSpPr>
        <p:spPr>
          <a:xfrm>
            <a:off x="1333500" y="3969544"/>
            <a:ext cx="17183100" cy="623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Gitをマスターする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1333500" y="4898231"/>
            <a:ext cx="171831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+ 3.5-hour hands-on workshop — everything you learn today, you will use today.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33500" y="5336381"/>
            <a:ext cx="17183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講義 + 3.5時間のハンズオン — 今日学ぶことは、今日すべて使う。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1333500" y="6441281"/>
            <a:ext cx="5003750" cy="171450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7825" y="6755606"/>
            <a:ext cx="481261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47825" y="7127081"/>
            <a:ext cx="481261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Internals &amp; Branching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647825" y="7527131"/>
            <a:ext cx="481261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内部構造とブランチ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642050" y="6441281"/>
            <a:ext cx="5003825" cy="171450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56375" y="6755606"/>
            <a:ext cx="481269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956375" y="7127081"/>
            <a:ext cx="4812692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Rewriting History Safely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956375" y="7527131"/>
            <a:ext cx="481269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履歴の安全な書き換え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1950675" y="6441281"/>
            <a:ext cx="5003825" cy="171450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65000" y="6755606"/>
            <a:ext cx="481269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265000" y="7127081"/>
            <a:ext cx="4812692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&amp; Recovery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2265000" y="7527131"/>
            <a:ext cx="481269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自動化と復旧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952500"/>
            <a:ext cx="171831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You'll Walk Away With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333500" y="1728788"/>
            <a:ext cx="171831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このコースで得られること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333500" y="2319338"/>
            <a:ext cx="1608963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Prerequisite: you've used git commit / push / pull / branch. That's enough. / 前提：commit / push / pull / branch を使ったことがあればOK。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1333500" y="3519488"/>
            <a:ext cx="7696200" cy="1195388"/>
          </a:xfrm>
          <a:prstGeom prst="roundRect">
            <a:avLst>
              <a:gd name="adj" fmla="val 9562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7825" y="3795713"/>
            <a:ext cx="487784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288009" y="3795713"/>
            <a:ext cx="693962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what Git actually stores — no more black-box fear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2288009" y="4148137"/>
            <a:ext cx="693962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Gitが実際に保存するものを理解し、ブラックボックスへの恐れをなくす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9258300" y="3519488"/>
            <a:ext cx="7696200" cy="1195388"/>
          </a:xfrm>
          <a:prstGeom prst="roundRect">
            <a:avLst>
              <a:gd name="adj" fmla="val 9562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72625" y="3795713"/>
            <a:ext cx="487784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10212809" y="3795713"/>
            <a:ext cx="622977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up messy commits with interactive rebase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0212809" y="4148137"/>
            <a:ext cx="622977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対話的リベースで雑なコミットを整理する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1333500" y="4943475"/>
            <a:ext cx="7696200" cy="1509713"/>
          </a:xfrm>
          <a:prstGeom prst="roundRect">
            <a:avLst>
              <a:gd name="adj" fmla="val 7571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47825" y="5219700"/>
            <a:ext cx="487784" cy="995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2288009" y="5219700"/>
            <a:ext cx="6620187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merge conflicts calmly — even self-made ones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2288009" y="5886450"/>
            <a:ext cx="707010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マージコンフリクトを落ち着いて解決する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9258300" y="4943475"/>
            <a:ext cx="7696200" cy="1509713"/>
          </a:xfrm>
          <a:prstGeom prst="roundRect">
            <a:avLst>
              <a:gd name="adj" fmla="val 7571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72625" y="5219700"/>
            <a:ext cx="487784" cy="995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10212809" y="5219700"/>
            <a:ext cx="445686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quality gates with hooks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0212809" y="5572125"/>
            <a:ext cx="445686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フックで品質チェックを自動化する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333500" y="6681788"/>
            <a:ext cx="15621000" cy="1195388"/>
          </a:xfrm>
          <a:prstGeom prst="roundRect">
            <a:avLst>
              <a:gd name="adj" fmla="val 9562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47825" y="6958013"/>
            <a:ext cx="487784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2288009" y="6958013"/>
            <a:ext cx="972017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 from any disaster — wrong reset, deleted branch, committed secret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2288009" y="7310438"/>
            <a:ext cx="972017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あらゆる失敗から復旧する — reset事故・ブランチ削除・シークレットのコミット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2189857"/>
            <a:ext cx="17183100" cy="1762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F0883E">
                    <a:alpha val="3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1333500" y="4028182"/>
            <a:ext cx="16089630" cy="2049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566"/>
              </a:lnSpc>
              <a:buNone/>
            </a:pPr>
            <a:r>
              <a:rPr lang="en-US" sz="72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Internals &amp; Branching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333500" y="6192143"/>
            <a:ext cx="17183100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Gitの内部構造とブランチ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33500" y="7254180"/>
            <a:ext cx="17183100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actually happens when you run </a:t>
            </a:r>
            <a:pPr algn="l" indent="0" marL="0">
              <a:buNone/>
            </a:pPr>
            <a:r>
              <a:rPr lang="en-US" sz="2550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</a:t>
            </a:r>
            <a:pPr algn="l" indent="0" marL="0">
              <a:buNone/>
            </a:pPr>
            <a:r>
              <a:rPr lang="en-US" sz="25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333500" y="7754243"/>
            <a:ext cx="17183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commit を実行すると実際に何が起きているのか？</a:t>
            </a:r>
            <a:endParaRPr lang="en-US" sz="1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14500" y="2655094"/>
            <a:ext cx="14859000" cy="1528763"/>
          </a:xfrm>
          <a:custGeom>
            <a:avLst/>
            <a:gdLst/>
            <a:ahLst/>
            <a:cxnLst/>
            <a:rect l="l" t="t" r="r" b="b"/>
            <a:pathLst>
              <a:path w="14859000" h="1528763">
                <a:moveTo>
                  <a:pt x="0" y="0"/>
                </a:moveTo>
                <a:lnTo>
                  <a:pt x="14744700" y="0"/>
                </a:lnTo>
                <a:arcTo hR="114300" wR="114300" stAng="16200000" swAng="5400000"/>
                <a:lnTo>
                  <a:pt x="14859000" y="1414463"/>
                </a:lnTo>
                <a:arcTo hR="114300" wR="114300" stAng="0" swAng="5400000"/>
                <a:lnTo>
                  <a:pt x="0" y="1528763"/>
                </a:lnTo>
                <a:lnTo>
                  <a:pt x="0" y="0"/>
                </a:lnTo>
                <a:close/>
              </a:path>
            </a:pathLst>
          </a:cu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1714500" y="2655094"/>
            <a:ext cx="57150" cy="1528763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4" name="Text 2"/>
          <p:cNvSpPr/>
          <p:nvPr/>
        </p:nvSpPr>
        <p:spPr>
          <a:xfrm>
            <a:off x="2190750" y="2997994"/>
            <a:ext cx="1536001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"Why did Git create a merge commit when I just did a pull?"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2190750" y="3498056"/>
            <a:ext cx="1536001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「ただpullしただけなのに、なぜマージコミットが作られた？」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1714500" y="4564856"/>
            <a:ext cx="14859000" cy="1528763"/>
          </a:xfrm>
          <a:custGeom>
            <a:avLst/>
            <a:gdLst/>
            <a:ahLst/>
            <a:cxnLst/>
            <a:rect l="l" t="t" r="r" b="b"/>
            <a:pathLst>
              <a:path w="14859000" h="1528763">
                <a:moveTo>
                  <a:pt x="0" y="0"/>
                </a:moveTo>
                <a:lnTo>
                  <a:pt x="14744700" y="0"/>
                </a:lnTo>
                <a:arcTo hR="114300" wR="114300" stAng="16200000" swAng="5400000"/>
                <a:lnTo>
                  <a:pt x="14859000" y="1414463"/>
                </a:lnTo>
                <a:arcTo hR="114300" wR="114300" stAng="0" swAng="5400000"/>
                <a:lnTo>
                  <a:pt x="0" y="1528763"/>
                </a:lnTo>
                <a:lnTo>
                  <a:pt x="0" y="0"/>
                </a:lnTo>
                <a:close/>
              </a:path>
            </a:pathLst>
          </a:cu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1714500" y="4564856"/>
            <a:ext cx="57150" cy="1528763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8" name="Text 6"/>
          <p:cNvSpPr/>
          <p:nvPr/>
        </p:nvSpPr>
        <p:spPr>
          <a:xfrm>
            <a:off x="2190750" y="4907756"/>
            <a:ext cx="1536001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even IS a detached HEAD state?"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2190750" y="5407819"/>
            <a:ext cx="1536001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「デタッチドHEADとは一体何？」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714500" y="6703219"/>
            <a:ext cx="16344900" cy="519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questions disappear once you see what's inside </a:t>
            </a:r>
            <a:pPr algn="l" indent="0" marL="0">
              <a:buNone/>
            </a:pPr>
            <a:r>
              <a:rPr lang="en-US" sz="300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.git/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714500" y="7260431"/>
            <a:ext cx="163449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.git/ の中身を見れば、これらの疑問は消える。箱を開けよう。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762000"/>
            <a:ext cx="171831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Box — Follow Along </a:t>
            </a:r>
            <a:pPr algn="l" indent="0" marL="0">
              <a:buNone/>
            </a:pPr>
            <a:r>
              <a:rPr lang="en-US" sz="2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LIVE DEMO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333500" y="1428750"/>
            <a:ext cx="171831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箱を開ける — 一緒に試そう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333500" y="2143125"/>
            <a:ext cx="15621000" cy="942975"/>
          </a:xfrm>
          <a:prstGeom prst="roundRect">
            <a:avLst>
              <a:gd name="adj" fmla="val 10101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09725" y="2462213"/>
            <a:ext cx="4191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181225" y="2455069"/>
            <a:ext cx="982789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 .git/ </a:t>
            </a:r>
            <a:pPr algn="l" indent="0" marL="0">
              <a:buNone/>
            </a:pPr>
            <a:r>
              <a:rPr lang="en-US" sz="1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HEAD config objects/ refs/ logs/ hooks/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1344275" y="2324100"/>
            <a:ext cx="5494020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file Git uses to track your repo. / Gitが使う全ファイルが見える。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333500" y="3238500"/>
            <a:ext cx="15621000" cy="942975"/>
          </a:xfrm>
          <a:prstGeom prst="roundRect">
            <a:avLst>
              <a:gd name="adj" fmla="val 10101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09725" y="3557588"/>
            <a:ext cx="4191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2181225" y="3550444"/>
            <a:ext cx="982789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cat .git/HEAD </a:t>
            </a:r>
            <a:pPr algn="l" indent="0" marL="0">
              <a:buNone/>
            </a:pPr>
            <a:r>
              <a:rPr lang="en-US" sz="1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ref: refs/heads/main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1344275" y="3419475"/>
            <a:ext cx="5494020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points to your current branch by name. / HEADは現在のブランチ名を指す。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333500" y="4333875"/>
            <a:ext cx="15621000" cy="942975"/>
          </a:xfrm>
          <a:prstGeom prst="roundRect">
            <a:avLst>
              <a:gd name="adj" fmla="val 10101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09725" y="4652963"/>
            <a:ext cx="4191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2181225" y="4645819"/>
            <a:ext cx="982789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checkout $(git rev-parse HEAD)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1344275" y="4514850"/>
            <a:ext cx="5494020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Detach HEAD — point it straight at a commit. / HEADをデタッチ — コミットを直接指す。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333500" y="5429250"/>
            <a:ext cx="15621000" cy="942975"/>
          </a:xfrm>
          <a:prstGeom prst="roundRect">
            <a:avLst>
              <a:gd name="adj" fmla="val 10101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09725" y="5748338"/>
            <a:ext cx="4191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2181225" y="5741194"/>
            <a:ext cx="982789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cat .git/HEAD </a:t>
            </a:r>
            <a:pPr algn="l" indent="0" marL="0">
              <a:buNone/>
            </a:pPr>
            <a:r>
              <a:rPr lang="en-US" sz="1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99fe01f40044...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1344275" y="5610225"/>
            <a:ext cx="5494020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branch name — a raw SHA. THIS is detached HEAD. / ブランチ名なし、生のSHA。これがデタッチドHEAD。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333500" y="6524625"/>
            <a:ext cx="15621000" cy="681038"/>
          </a:xfrm>
          <a:prstGeom prst="roundRect">
            <a:avLst>
              <a:gd name="adj" fmla="val 13986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09725" y="6712744"/>
            <a:ext cx="4191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2181225" y="6705600"/>
            <a:ext cx="982789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checkout main </a:t>
            </a:r>
            <a:pPr algn="l" indent="0" marL="0">
              <a:buNone/>
            </a:pPr>
            <a:r>
              <a:rPr lang="en-US" sz="1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Switched to branch 'main'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1344275" y="6719888"/>
            <a:ext cx="58674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to normal. / 正常に戻る。HEADが再びmainを指す。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333500" y="7510462"/>
            <a:ext cx="15621000" cy="1038225"/>
          </a:xfrm>
          <a:prstGeom prst="roundRect">
            <a:avLst>
              <a:gd name="adj" fmla="val 9174"/>
            </a:avLst>
          </a:prstGeom>
          <a:solidFill>
            <a:srgbClr val="F0883E">
              <a:alpha val="10000"/>
            </a:srgbClr>
          </a:solidFill>
          <a:ln w="9525">
            <a:solidFill>
              <a:srgbClr val="F088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09725" y="7710487"/>
            <a:ext cx="1657540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08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point: </a:t>
            </a:r>
            <a:pPr algn="l" indent="0" marL="0"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is one line of text in one file. Git is not magic — it's plain text.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609725" y="8058150"/>
            <a:ext cx="1657540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ポイント：HEADはただの1行のテキスト。Gitは魔法ではなく、プレーンテキスト。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857250"/>
            <a:ext cx="171831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— Where Are You Right Now?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333500" y="1524000"/>
            <a:ext cx="171831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— 今あなたはどこにいる？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333500" y="2352675"/>
            <a:ext cx="7620000" cy="7077075"/>
          </a:xfrm>
          <a:prstGeom prst="roundRect">
            <a:avLst>
              <a:gd name="adj" fmla="val 1884"/>
            </a:avLst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733550" y="2752725"/>
            <a:ext cx="750189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— attached / 通常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495726" y="3467100"/>
            <a:ext cx="1295549" cy="514350"/>
          </a:xfrm>
          <a:prstGeom prst="roundRect">
            <a:avLst>
              <a:gd name="adj" fmla="val 14815"/>
            </a:avLst>
          </a:prstGeom>
          <a:solidFill>
            <a:srgbClr val="238636"/>
          </a:solidFill>
          <a:ln/>
        </p:spPr>
      </p:sp>
      <p:sp>
        <p:nvSpPr>
          <p:cNvPr id="7" name="Text 5"/>
          <p:cNvSpPr/>
          <p:nvPr/>
        </p:nvSpPr>
        <p:spPr>
          <a:xfrm>
            <a:off x="4800526" y="3562350"/>
            <a:ext cx="76214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5057775" y="4057650"/>
            <a:ext cx="24765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4495726" y="4500563"/>
            <a:ext cx="1295549" cy="514350"/>
          </a:xfrm>
          <a:prstGeom prst="roundRect">
            <a:avLst>
              <a:gd name="adj" fmla="val 14815"/>
            </a:avLst>
          </a:prstGeom>
          <a:solidFill>
            <a:srgbClr val="1F6FEB"/>
          </a:solidFill>
          <a:ln/>
        </p:spPr>
      </p:sp>
      <p:sp>
        <p:nvSpPr>
          <p:cNvPr id="10" name="Text 8"/>
          <p:cNvSpPr/>
          <p:nvPr/>
        </p:nvSpPr>
        <p:spPr>
          <a:xfrm>
            <a:off x="4800526" y="4595813"/>
            <a:ext cx="76214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5057775" y="5091113"/>
            <a:ext cx="24765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4238625" y="5534025"/>
            <a:ext cx="1809750" cy="557213"/>
          </a:xfrm>
          <a:prstGeom prst="roundRect">
            <a:avLst>
              <a:gd name="adj" fmla="val 13675"/>
            </a:avLst>
          </a:prstGeom>
          <a:solidFill>
            <a:srgbClr val="30363D"/>
          </a:solidFill>
          <a:ln/>
        </p:spPr>
      </p:sp>
      <p:sp>
        <p:nvSpPr>
          <p:cNvPr id="13" name="Text 11"/>
          <p:cNvSpPr/>
          <p:nvPr/>
        </p:nvSpPr>
        <p:spPr>
          <a:xfrm>
            <a:off x="4543425" y="5629275"/>
            <a:ext cx="127635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99fe01f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733550" y="6434138"/>
            <a:ext cx="7024497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cat .git/HEAD ref: refs/heads/main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733550" y="7253288"/>
            <a:ext cx="7024497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→ branch → commit. New commits move the branch forward. </a:t>
            </a:r>
            <a:pPr algn="l" indent="0" marL="0">
              <a:buNone/>
            </a:pPr>
            <a:r>
              <a:rPr lang="en-US" sz="195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Safe.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733550" y="7891463"/>
            <a:ext cx="750189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HEADはブランチを指す。新しいコミットでブランチが進む。安全。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9334500" y="2352675"/>
            <a:ext cx="7620000" cy="7077075"/>
          </a:xfrm>
          <a:prstGeom prst="roundRect">
            <a:avLst>
              <a:gd name="adj" fmla="val 1884"/>
            </a:avLst>
          </a:prstGeom>
          <a:solidFill>
            <a:srgbClr val="161B22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34550" y="2752725"/>
            <a:ext cx="750189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DETACHED / デタッチド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12496726" y="3467100"/>
            <a:ext cx="1295549" cy="514350"/>
          </a:xfrm>
          <a:prstGeom prst="roundRect">
            <a:avLst>
              <a:gd name="adj" fmla="val 14815"/>
            </a:avLst>
          </a:prstGeom>
          <a:solidFill>
            <a:srgbClr val="DA3633"/>
          </a:solidFill>
          <a:ln/>
        </p:spPr>
      </p:sp>
      <p:sp>
        <p:nvSpPr>
          <p:cNvPr id="20" name="Text 18"/>
          <p:cNvSpPr/>
          <p:nvPr/>
        </p:nvSpPr>
        <p:spPr>
          <a:xfrm>
            <a:off x="12801526" y="3562350"/>
            <a:ext cx="76214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3058775" y="4057650"/>
            <a:ext cx="24765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1498535" y="4500563"/>
            <a:ext cx="362104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(no branch / ブランチなし)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058775" y="4919663"/>
            <a:ext cx="24765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12239625" y="5362575"/>
            <a:ext cx="1809750" cy="557213"/>
          </a:xfrm>
          <a:prstGeom prst="roundRect">
            <a:avLst>
              <a:gd name="adj" fmla="val 13675"/>
            </a:avLst>
          </a:prstGeom>
          <a:solidFill>
            <a:srgbClr val="30363D"/>
          </a:solidFill>
          <a:ln/>
        </p:spPr>
      </p:sp>
      <p:sp>
        <p:nvSpPr>
          <p:cNvPr id="25" name="Text 23"/>
          <p:cNvSpPr/>
          <p:nvPr/>
        </p:nvSpPr>
        <p:spPr>
          <a:xfrm>
            <a:off x="12544425" y="5457825"/>
            <a:ext cx="127635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99fe01f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9734550" y="6262688"/>
            <a:ext cx="7024497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cat .git/HEAD 99fe01f400441c1232...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734550" y="7081838"/>
            <a:ext cx="750189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Commits here are </a:t>
            </a:r>
            <a:pPr algn="l" indent="0" marL="0">
              <a:buNone/>
            </a:pPr>
            <a:r>
              <a:rPr lang="en-US" sz="1950" b="1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orphaned </a:t>
            </a:r>
            <a:pPr algn="l" indent="0" marL="0"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no branch moves forward.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9734550" y="7429500"/>
            <a:ext cx="750189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ここでのコミットは孤立する。対処法：</a:t>
            </a:r>
            <a:pPr algn="l" indent="0" marL="0">
              <a:buNone/>
            </a:pPr>
            <a:r>
              <a:rPr lang="en-US" sz="16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-b rescue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857250"/>
            <a:ext cx="171831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Commit Is a Snapshot + a Pointer to Its Parent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333500" y="1524000"/>
            <a:ext cx="171831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コミット = スナップショット + 親へのポインタ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230487" y="2657475"/>
            <a:ext cx="4076700" cy="2307729"/>
          </a:xfrm>
          <a:prstGeom prst="roundRect">
            <a:avLst>
              <a:gd name="adj" fmla="val 5778"/>
            </a:avLst>
          </a:prstGeom>
          <a:solidFill>
            <a:srgbClr val="161B22"/>
          </a:solidFill>
          <a:ln w="1905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54337" y="2943225"/>
            <a:ext cx="377190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 a1b2c3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2554337" y="3338513"/>
            <a:ext cx="3531870" cy="1379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800"/>
              </a:lnSpc>
              <a:buNone/>
            </a:pPr>
            <a:r>
              <a:rPr lang="en-US" sz="165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 of ALL files author + date message </a:t>
            </a:r>
            <a:pPr algn="l" indent="0" marL="0">
              <a:lnSpc>
                <a:spcPct val="140800"/>
              </a:lnSpc>
              <a:buNone/>
            </a:pPr>
            <a:r>
              <a:rPr lang="en-US" sz="165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parent: (none — first!)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497687" y="3542258"/>
            <a:ext cx="497309" cy="576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7105650" y="2657475"/>
            <a:ext cx="4076700" cy="2307729"/>
          </a:xfrm>
          <a:prstGeom prst="roundRect">
            <a:avLst>
              <a:gd name="adj" fmla="val 5778"/>
            </a:avLst>
          </a:prstGeom>
          <a:solidFill>
            <a:srgbClr val="161B22"/>
          </a:solidFill>
          <a:ln w="1905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29500" y="2943225"/>
            <a:ext cx="377190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 d4e5f6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7429500" y="3338513"/>
            <a:ext cx="3531870" cy="1379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800"/>
              </a:lnSpc>
              <a:buNone/>
            </a:pPr>
            <a:r>
              <a:rPr lang="en-US" sz="165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 of ALL files author + date message </a:t>
            </a:r>
            <a:pPr algn="l" indent="0" marL="0">
              <a:lnSpc>
                <a:spcPct val="140800"/>
              </a:lnSpc>
              <a:buNone/>
            </a:pPr>
            <a:r>
              <a:rPr lang="en-US" sz="165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parent: a1b2c3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1372850" y="3542258"/>
            <a:ext cx="497309" cy="576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11980813" y="2657475"/>
            <a:ext cx="4076700" cy="2307729"/>
          </a:xfrm>
          <a:prstGeom prst="roundRect">
            <a:avLst>
              <a:gd name="adj" fmla="val 5778"/>
            </a:avLst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04663" y="2943225"/>
            <a:ext cx="377190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 99fe01f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2304663" y="3338513"/>
            <a:ext cx="3531870" cy="1379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800"/>
              </a:lnSpc>
              <a:buNone/>
            </a:pPr>
            <a:r>
              <a:rPr lang="en-US" sz="165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 of ALL files author + date message </a:t>
            </a:r>
            <a:pPr algn="l" indent="0" marL="0">
              <a:lnSpc>
                <a:spcPct val="140800"/>
              </a:lnSpc>
              <a:buNone/>
            </a:pPr>
            <a:r>
              <a:rPr lang="en-US" sz="165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parent: d4e5f6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3036042" y="1952625"/>
            <a:ext cx="1966243" cy="371475"/>
          </a:xfrm>
          <a:prstGeom prst="roundRect">
            <a:avLst>
              <a:gd name="adj" fmla="val 20513"/>
            </a:avLst>
          </a:prstGeom>
          <a:solidFill>
            <a:srgbClr val="1F6FEB"/>
          </a:solidFill>
          <a:ln/>
        </p:spPr>
      </p:sp>
      <p:sp>
        <p:nvSpPr>
          <p:cNvPr id="16" name="Text 14"/>
          <p:cNvSpPr/>
          <p:nvPr/>
        </p:nvSpPr>
        <p:spPr>
          <a:xfrm>
            <a:off x="13264642" y="2009775"/>
            <a:ext cx="158524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 ← HEAD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913160" y="2324100"/>
            <a:ext cx="28820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333500" y="5917704"/>
            <a:ext cx="5054575" cy="1647825"/>
          </a:xfrm>
          <a:prstGeom prst="roundRect">
            <a:avLst>
              <a:gd name="adj" fmla="val 578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09725" y="6155829"/>
            <a:ext cx="4637189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 = a chain of snapshots, each pointing back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609725" y="6774954"/>
            <a:ext cx="495233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履歴 = 後ろを指すスナップショットの連鎖</a:t>
            </a:r>
            <a:endParaRPr lang="en-US" sz="1575" dirty="0"/>
          </a:p>
        </p:txBody>
      </p:sp>
      <p:sp>
        <p:nvSpPr>
          <p:cNvPr id="21" name="Shape 19"/>
          <p:cNvSpPr/>
          <p:nvPr/>
        </p:nvSpPr>
        <p:spPr>
          <a:xfrm>
            <a:off x="6616675" y="5917704"/>
            <a:ext cx="5054650" cy="1647825"/>
          </a:xfrm>
          <a:prstGeom prst="roundRect">
            <a:avLst>
              <a:gd name="adj" fmla="val 578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92900" y="6155829"/>
            <a:ext cx="4637266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"Rewriting history" = building a NEW chain (Module 2)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6892900" y="6774954"/>
            <a:ext cx="4637266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「履歴の書き換え」= 新しい連鎖を作ること（モジュール2）</a:t>
            </a:r>
            <a:endParaRPr lang="en-US" sz="1575" dirty="0"/>
          </a:p>
        </p:txBody>
      </p:sp>
      <p:sp>
        <p:nvSpPr>
          <p:cNvPr id="24" name="Shape 22"/>
          <p:cNvSpPr/>
          <p:nvPr/>
        </p:nvSpPr>
        <p:spPr>
          <a:xfrm>
            <a:off x="11899925" y="5917704"/>
            <a:ext cx="5054575" cy="1647825"/>
          </a:xfrm>
          <a:prstGeom prst="roundRect">
            <a:avLst>
              <a:gd name="adj" fmla="val 578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176150" y="6155829"/>
            <a:ext cx="4637189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commits are kept — that's why recovery works (Module 3)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2176150" y="6774954"/>
            <a:ext cx="4637189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古いコミットは残る — だから復旧できる（モジュール3）</a:t>
            </a:r>
            <a:endParaRPr lang="en-US" sz="15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857250"/>
            <a:ext cx="171831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Branch Is Just a 41-Byte Text File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333500" y="1524000"/>
            <a:ext cx="171831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ブランチはただの41バイトのテキストファイル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333500" y="2428875"/>
            <a:ext cx="7928297" cy="1390650"/>
          </a:xfrm>
          <a:prstGeom prst="roundRect">
            <a:avLst>
              <a:gd name="adj" fmla="val 8219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7825" y="2743200"/>
            <a:ext cx="802961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cat .git/refs/heads/main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647825" y="3162300"/>
            <a:ext cx="802961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a3f9d82c71b4e6f01234...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33500" y="4124325"/>
            <a:ext cx="233566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branch?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3609231" y="4124325"/>
            <a:ext cx="210502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writes one file.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790456" y="4124325"/>
            <a:ext cx="265858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作成 → ファイルを1つ書く</a:t>
            </a:r>
            <a:endParaRPr lang="en-US" sz="1725" dirty="0"/>
          </a:p>
        </p:txBody>
      </p:sp>
      <p:sp>
        <p:nvSpPr>
          <p:cNvPr id="10" name="Text 8"/>
          <p:cNvSpPr/>
          <p:nvPr/>
        </p:nvSpPr>
        <p:spPr>
          <a:xfrm>
            <a:off x="1333500" y="4591050"/>
            <a:ext cx="103048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Delete?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2440186" y="4591050"/>
            <a:ext cx="225608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deletes one file.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772471" y="4591050"/>
            <a:ext cx="154600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削除 → 1つ消す</a:t>
            </a:r>
            <a:endParaRPr lang="en-US" sz="1725" dirty="0"/>
          </a:p>
        </p:txBody>
      </p:sp>
      <p:sp>
        <p:nvSpPr>
          <p:cNvPr id="13" name="Text 11"/>
          <p:cNvSpPr/>
          <p:nvPr/>
        </p:nvSpPr>
        <p:spPr>
          <a:xfrm>
            <a:off x="1333500" y="5057775"/>
            <a:ext cx="123758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Rename?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2647280" y="5057775"/>
            <a:ext cx="191058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Rename the file.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4634061" y="5057775"/>
            <a:ext cx="321863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名前変更 → ファイル名を変える</a:t>
            </a:r>
            <a:endParaRPr lang="en-US" sz="1725" dirty="0"/>
          </a:p>
        </p:txBody>
      </p:sp>
      <p:sp>
        <p:nvSpPr>
          <p:cNvPr id="16" name="Shape 14"/>
          <p:cNvSpPr/>
          <p:nvPr/>
        </p:nvSpPr>
        <p:spPr>
          <a:xfrm>
            <a:off x="1333500" y="5753100"/>
            <a:ext cx="7928297" cy="1290638"/>
          </a:xfrm>
          <a:prstGeom prst="roundRect">
            <a:avLst>
              <a:gd name="adj" fmla="val 7380"/>
            </a:avLst>
          </a:prstGeom>
          <a:solidFill>
            <a:srgbClr val="3FB950">
              <a:alpha val="10000"/>
            </a:srgbClr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09725" y="5953125"/>
            <a:ext cx="7613696" cy="928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6EDF3"/>
                </a:solidFill>
                <a:highlight>
                  <a:srgbClr val="ECF8EE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This is why branching in Git is instant and free — use branches generously. </a:t>
            </a:r>
            <a:pPr algn="l" indent="0" marL="0">
              <a:buNone/>
            </a:pPr>
            <a:r>
              <a:rPr lang="en-US" sz="165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だからGitのブランチは一瞬で無料。遠慮なく使おう。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9642797" y="2428875"/>
            <a:ext cx="7311703" cy="4614863"/>
          </a:xfrm>
          <a:prstGeom prst="roundRect">
            <a:avLst>
              <a:gd name="adj" fmla="val 247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95222" y="2781300"/>
            <a:ext cx="726753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08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picture / 全体像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9995222" y="3448050"/>
            <a:ext cx="6805058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4211"/>
              </a:lnSpc>
              <a:buNone/>
            </a:pPr>
            <a:r>
              <a:rPr lang="en-US" sz="1875" b="1" dirty="0">
                <a:solidFill>
                  <a:srgbClr val="2386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 </a:t>
            </a:r>
            <a:pPr algn="l" indent="0" marL="0">
              <a:lnSpc>
                <a:spcPct val="184211"/>
              </a:lnSpc>
              <a:buNone/>
            </a:pPr>
            <a:r>
              <a:rPr lang="en-US" sz="1875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file saying "main"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9995222" y="3971925"/>
            <a:ext cx="6805058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4211"/>
              </a:lnSpc>
              <a:buNone/>
            </a:pPr>
            <a:r>
              <a:rPr lang="en-US" sz="1875" b="1" dirty="0">
                <a:solidFill>
                  <a:srgbClr val="1F6F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 </a:t>
            </a:r>
            <a:pPr algn="l" indent="0" marL="0">
              <a:lnSpc>
                <a:spcPct val="184211"/>
              </a:lnSpc>
              <a:buNone/>
            </a:pPr>
            <a:r>
              <a:rPr lang="en-US" sz="1875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file saying "a3f9d82"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9995222" y="4495800"/>
            <a:ext cx="6805058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4211"/>
              </a:lnSpc>
              <a:buNone/>
            </a:pPr>
            <a:r>
              <a:rPr lang="en-US" sz="1875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a3f9d82 </a:t>
            </a:r>
            <a:pPr algn="l" indent="0" marL="0">
              <a:lnSpc>
                <a:spcPct val="184211"/>
              </a:lnSpc>
              <a:buNone/>
            </a:pPr>
            <a:r>
              <a:rPr lang="en-US" sz="1875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commit object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9995222" y="5286375"/>
            <a:ext cx="726753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tiny pointers. That's the whole system.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9995222" y="5634038"/>
            <a:ext cx="726753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3つの小さなポインタ。それがGitの全システム。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857250"/>
            <a:ext cx="171831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Branching Strategy: Start Simple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333500" y="1524000"/>
            <a:ext cx="171831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ブランチ戦略：シンプルに始める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333500" y="2352675"/>
            <a:ext cx="7629525" cy="7077075"/>
          </a:xfrm>
          <a:prstGeom prst="roundRect">
            <a:avLst>
              <a:gd name="adj" fmla="val 1884"/>
            </a:avLst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733550" y="2752725"/>
            <a:ext cx="7512367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Flow — today's workshop / 今日はこれ</a:t>
            </a:r>
            <a:endParaRPr lang="en-US" sz="2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33550" y="3481388"/>
            <a:ext cx="6829425" cy="213419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3550" y="5877520"/>
            <a:ext cx="7034308" cy="880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7333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Branch off </a:t>
            </a:r>
            <a:pPr algn="l" indent="0" marL="0">
              <a:lnSpc>
                <a:spcPct val="147333"/>
              </a:lnSpc>
              <a:buNone/>
            </a:pPr>
            <a:r>
              <a:rPr lang="en-US" sz="19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 </a:t>
            </a:r>
            <a:pPr algn="l" indent="0" marL="0">
              <a:lnSpc>
                <a:spcPct val="147333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2. commit → 3. open Pull Request → 4. review → 5. merge.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1733550" y="6795641"/>
            <a:ext cx="751236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mainから分岐 → コミット → PR作成 → レビュー → マージ。それだけ。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9344025" y="2352675"/>
            <a:ext cx="7610475" cy="7077075"/>
          </a:xfrm>
          <a:prstGeom prst="roundRect">
            <a:avLst>
              <a:gd name="adj" fmla="val 1884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734550" y="2743200"/>
            <a:ext cx="7512367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GitFlow — the heavyweight option / 重量級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9734550" y="3395663"/>
            <a:ext cx="7034308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Adds </a:t>
            </a:r>
            <a:pPr algn="l" indent="0" marL="0">
              <a:buNone/>
            </a:pPr>
            <a:r>
              <a:rPr lang="en-US" sz="187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</a:t>
            </a:r>
            <a:pPr algn="l" indent="0" marL="0">
              <a:buNone/>
            </a:pPr>
            <a:r>
              <a:rPr lang="en-US" sz="1875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buNone/>
            </a:pPr>
            <a:r>
              <a:rPr lang="en-US" sz="187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release/*</a:t>
            </a:r>
            <a:pPr algn="l" indent="0" marL="0">
              <a:buNone/>
            </a:pPr>
            <a:r>
              <a:rPr lang="en-US" sz="1875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buNone/>
            </a:pPr>
            <a:r>
              <a:rPr lang="en-US" sz="187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hotfix/* </a:t>
            </a:r>
            <a:pPr algn="l" indent="0" marL="0">
              <a:buNone/>
            </a:pPr>
            <a:r>
              <a:rPr lang="en-US" sz="1875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branches. Used for versioned, scheduled releases (mobile apps, installed software).</a:t>
            </a:r>
            <a:endParaRPr lang="en-US" sz="1875" dirty="0"/>
          </a:p>
        </p:txBody>
      </p:sp>
      <p:sp>
        <p:nvSpPr>
          <p:cNvPr id="12" name="Text 9"/>
          <p:cNvSpPr/>
          <p:nvPr/>
        </p:nvSpPr>
        <p:spPr>
          <a:xfrm>
            <a:off x="9734550" y="4062412"/>
            <a:ext cx="7034308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develop・release・hotfixブランチを追加。バージョン付きリリース向け（モバイルアプリ等）。</a:t>
            </a:r>
            <a:endParaRPr lang="en-US" sz="1575" dirty="0"/>
          </a:p>
        </p:txBody>
      </p:sp>
      <p:sp>
        <p:nvSpPr>
          <p:cNvPr id="13" name="Shape 10"/>
          <p:cNvSpPr/>
          <p:nvPr/>
        </p:nvSpPr>
        <p:spPr>
          <a:xfrm>
            <a:off x="9734550" y="4919663"/>
            <a:ext cx="6829425" cy="823913"/>
          </a:xfrm>
          <a:prstGeom prst="roundRect">
            <a:avLst>
              <a:gd name="adj" fmla="val 9249"/>
            </a:avLst>
          </a:prstGeom>
          <a:solidFill>
            <a:srgbClr val="0D1117"/>
          </a:solidFill>
          <a:ln/>
        </p:spPr>
      </p:sp>
      <p:sp>
        <p:nvSpPr>
          <p:cNvPr id="14" name="Text 11"/>
          <p:cNvSpPr/>
          <p:nvPr/>
        </p:nvSpPr>
        <p:spPr>
          <a:xfrm>
            <a:off x="9925050" y="5067300"/>
            <a:ext cx="313001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1: never commit directly to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3014573" y="5053013"/>
            <a:ext cx="62485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3613904" y="5067300"/>
            <a:ext cx="27481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3863191" y="5053013"/>
            <a:ext cx="10363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9925050" y="5348288"/>
            <a:ext cx="709326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mainとdevelopに直接コミットしない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734550" y="5876925"/>
            <a:ext cx="6829425" cy="823913"/>
          </a:xfrm>
          <a:prstGeom prst="roundRect">
            <a:avLst>
              <a:gd name="adj" fmla="val 9249"/>
            </a:avLst>
          </a:prstGeom>
          <a:solidFill>
            <a:srgbClr val="0D1117"/>
          </a:solidFill>
          <a:ln/>
        </p:spPr>
      </p:sp>
      <p:sp>
        <p:nvSpPr>
          <p:cNvPr id="20" name="Text 17"/>
          <p:cNvSpPr/>
          <p:nvPr/>
        </p:nvSpPr>
        <p:spPr>
          <a:xfrm>
            <a:off x="9925050" y="6024563"/>
            <a:ext cx="415922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2: features branch from + merge into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4013805" y="6010275"/>
            <a:ext cx="10363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9925050" y="6305550"/>
            <a:ext cx="709326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featureはdevelopから分岐しdevelopへ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9734550" y="6834188"/>
            <a:ext cx="6829425" cy="823913"/>
          </a:xfrm>
          <a:prstGeom prst="roundRect">
            <a:avLst>
              <a:gd name="adj" fmla="val 9249"/>
            </a:avLst>
          </a:prstGeom>
          <a:solidFill>
            <a:srgbClr val="0D1117"/>
          </a:solidFill>
          <a:ln/>
        </p:spPr>
      </p:sp>
      <p:sp>
        <p:nvSpPr>
          <p:cNvPr id="24" name="Text 21"/>
          <p:cNvSpPr/>
          <p:nvPr/>
        </p:nvSpPr>
        <p:spPr>
          <a:xfrm>
            <a:off x="9925050" y="6981825"/>
            <a:ext cx="33817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3: releases merge into BOTH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3258949" y="6967538"/>
            <a:ext cx="62485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13858280" y="6981825"/>
            <a:ext cx="44700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14279761" y="6967538"/>
            <a:ext cx="10363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9925050" y="7262813"/>
            <a:ext cx="709326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releaseはmainとdevelop両方にマージ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9734550" y="7886700"/>
            <a:ext cx="7512367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778"/>
              </a:lnSpc>
              <a:buNone/>
            </a:pPr>
            <a:r>
              <a:rPr lang="en-US" sz="1725" dirty="0">
                <a:solidFill>
                  <a:srgbClr val="F08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Takeaway: pick the simplest strategy your release process allows.</a:t>
            </a:r>
            <a:endParaRPr lang="en-US" sz="1725" dirty="0"/>
          </a:p>
        </p:txBody>
      </p:sp>
      <p:sp>
        <p:nvSpPr>
          <p:cNvPr id="30" name="Text 27"/>
          <p:cNvSpPr/>
          <p:nvPr/>
        </p:nvSpPr>
        <p:spPr>
          <a:xfrm>
            <a:off x="9734550" y="8272463"/>
            <a:ext cx="7512367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558"/>
              </a:lnSpc>
              <a:buNone/>
            </a:pPr>
            <a:r>
              <a:rPr lang="en-US" sz="1425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結論：リリース工程が許す最もシンプルな戦略を選ぶ。</a:t>
            </a:r>
            <a:endParaRPr lang="en-US" sz="14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2211288"/>
            <a:ext cx="17183100" cy="1762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F0883E">
                    <a:alpha val="3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1333500" y="4049613"/>
            <a:ext cx="16089630" cy="2049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566"/>
              </a:lnSpc>
              <a:buNone/>
            </a:pPr>
            <a:r>
              <a:rPr lang="en-US" sz="72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Rewriting History Safely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333500" y="6213574"/>
            <a:ext cx="17183100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履歴を安全に書き換える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33500" y="7275612"/>
            <a:ext cx="171831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rebase · cherry-pick — and one Golden Rule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333500" y="7732812"/>
            <a:ext cx="17183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対話的リベース・cherry-pick、そしてゴールデンルール</a:t>
            </a:r>
            <a:endParaRPr lang="en-US" sz="1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857250"/>
            <a:ext cx="171831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History That Tells No Story </a:t>
            </a:r>
            <a:pPr algn="l" indent="0" marL="0">
              <a:buNone/>
            </a:pPr>
            <a:r>
              <a:rPr lang="en-US" sz="22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LIVE DEMO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333500" y="1524000"/>
            <a:ext cx="171831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問題：意味を伝えないコミット履歴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333500" y="2428875"/>
            <a:ext cx="6852270" cy="4667250"/>
          </a:xfrm>
          <a:prstGeom prst="roundRect">
            <a:avLst>
              <a:gd name="adj" fmla="val 2449"/>
            </a:avLst>
          </a:prstGeom>
          <a:solidFill>
            <a:srgbClr val="161B22"/>
          </a:solidFill>
          <a:ln w="9525">
            <a:solidFill>
              <a:srgbClr val="F851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7825" y="2743200"/>
            <a:ext cx="641032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4545"/>
              </a:lnSpc>
              <a:buNone/>
            </a:pPr>
            <a:r>
              <a:rPr lang="en-US" sz="1800" b="1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/ レビュー前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47825" y="3314700"/>
            <a:ext cx="6410329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6271"/>
              </a:lnSpc>
              <a:buNone/>
            </a:pPr>
            <a:r>
              <a:rPr lang="en-US" sz="1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f3a2b1 </a:t>
            </a:r>
            <a:pPr algn="l" indent="0" marL="0">
              <a:lnSpc>
                <a:spcPct val="176271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 login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647825" y="3810000"/>
            <a:ext cx="6410329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6271"/>
              </a:lnSpc>
              <a:buNone/>
            </a:pPr>
            <a:r>
              <a:rPr lang="en-US" sz="1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9c8d7e </a:t>
            </a:r>
            <a:pPr algn="l" indent="0" marL="0">
              <a:lnSpc>
                <a:spcPct val="176271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WIP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647825" y="4305300"/>
            <a:ext cx="6410329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6271"/>
              </a:lnSpc>
              <a:buNone/>
            </a:pPr>
            <a:r>
              <a:rPr lang="en-US" sz="1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6f5e4d </a:t>
            </a:r>
            <a:pPr algn="l" indent="0" marL="0">
              <a:lnSpc>
                <a:spcPct val="176271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actually fix login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647825" y="4800600"/>
            <a:ext cx="6410329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6271"/>
              </a:lnSpc>
              <a:buNone/>
            </a:pPr>
            <a:r>
              <a:rPr lang="en-US" sz="1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3b2a1f </a:t>
            </a:r>
            <a:pPr algn="l" indent="0" marL="0">
              <a:lnSpc>
                <a:spcPct val="176271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typo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647825" y="5295900"/>
            <a:ext cx="6410329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6271"/>
              </a:lnSpc>
              <a:buNone/>
            </a:pPr>
            <a:r>
              <a:rPr lang="en-US" sz="1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0e9d8c </a:t>
            </a:r>
            <a:pPr algn="l" indent="0" marL="0">
              <a:lnSpc>
                <a:spcPct val="176271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asdfg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647825" y="5791200"/>
            <a:ext cx="6410329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6271"/>
              </a:lnSpc>
              <a:buNone/>
            </a:pPr>
            <a:r>
              <a:rPr lang="en-US" sz="1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1a2b3c </a:t>
            </a:r>
            <a:pPr algn="l" indent="0" marL="0">
              <a:lnSpc>
                <a:spcPct val="176271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PLEASE WORK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647825" y="6286500"/>
            <a:ext cx="6410329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6271"/>
              </a:lnSpc>
              <a:buNone/>
            </a:pPr>
            <a:r>
              <a:rPr lang="en-US" sz="1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4d5e6f </a:t>
            </a:r>
            <a:pPr algn="l" indent="0" marL="0">
              <a:lnSpc>
                <a:spcPct val="176271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 for real this time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8477615" y="4279106"/>
            <a:ext cx="1961421" cy="709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500" dirty="0">
                <a:solidFill>
                  <a:srgbClr val="F08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500" dirty="0"/>
          </a:p>
        </p:txBody>
      </p:sp>
      <p:sp>
        <p:nvSpPr>
          <p:cNvPr id="14" name="Text 12"/>
          <p:cNvSpPr/>
          <p:nvPr/>
        </p:nvSpPr>
        <p:spPr>
          <a:xfrm>
            <a:off x="8477615" y="4950619"/>
            <a:ext cx="196142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rebase -i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730880" y="2909888"/>
            <a:ext cx="6223620" cy="1724025"/>
          </a:xfrm>
          <a:prstGeom prst="roundRect">
            <a:avLst>
              <a:gd name="adj" fmla="val 6630"/>
            </a:avLst>
          </a:prstGeom>
          <a:solidFill>
            <a:srgbClr val="161B22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045205" y="3224213"/>
            <a:ext cx="615446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/ リベース後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045205" y="3681413"/>
            <a:ext cx="5762819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a1b2c3 </a:t>
            </a:r>
            <a:pPr algn="l" indent="0" marL="0">
              <a:buNone/>
            </a:pPr>
            <a:r>
              <a:rPr lang="en-US" sz="1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feat: fix login authentication flow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0730880" y="4900613"/>
            <a:ext cx="6410329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172"/>
              </a:lnSpc>
              <a:buNone/>
            </a:pPr>
            <a:r>
              <a:rPr lang="en-US" sz="18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Reviewer sees intent, not your debug trail </a:t>
            </a:r>
            <a:pPr algn="l" indent="0" marL="0">
              <a:lnSpc>
                <a:spcPct val="155172"/>
              </a:lnSpc>
              <a:buNone/>
            </a:pPr>
            <a:r>
              <a:rPr lang="en-US" sz="1575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レビュアーは意図を見る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10730880" y="5757863"/>
            <a:ext cx="6410329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172"/>
              </a:lnSpc>
              <a:buNone/>
            </a:pPr>
            <a:r>
              <a:rPr lang="en-US" sz="18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algn="l" indent="0" marL="0">
              <a:lnSpc>
                <a:spcPct val="155172"/>
              </a:lnSpc>
              <a:buNone/>
            </a:pPr>
            <a:r>
              <a:rPr lang="en-US" sz="187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</a:t>
            </a:r>
            <a:pPr algn="l" indent="0" marL="0">
              <a:lnSpc>
                <a:spcPct val="155172"/>
              </a:lnSpc>
              <a:buNone/>
            </a:pPr>
            <a:r>
              <a:rPr lang="en-US" sz="18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becomes searchable </a:t>
            </a:r>
            <a:pPr algn="l" indent="0" marL="0">
              <a:lnSpc>
                <a:spcPct val="155172"/>
              </a:lnSpc>
              <a:buNone/>
            </a:pPr>
            <a:r>
              <a:rPr lang="en-US" sz="1575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ログが検索可能に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10730880" y="6186488"/>
            <a:ext cx="6410329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172"/>
              </a:lnSpc>
              <a:buNone/>
            </a:pPr>
            <a:r>
              <a:rPr lang="en-US" sz="18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algn="l" indent="0" marL="0">
              <a:lnSpc>
                <a:spcPct val="155172"/>
              </a:lnSpc>
              <a:buNone/>
            </a:pPr>
            <a:r>
              <a:rPr lang="en-US" sz="187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revert </a:t>
            </a:r>
            <a:pPr algn="l" indent="0" marL="0">
              <a:lnSpc>
                <a:spcPct val="155172"/>
              </a:lnSpc>
              <a:buNone/>
            </a:pPr>
            <a:r>
              <a:rPr lang="en-US" sz="18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undoes one logical unit </a:t>
            </a:r>
            <a:pPr algn="l" indent="0" marL="0">
              <a:lnSpc>
                <a:spcPct val="155172"/>
              </a:lnSpc>
              <a:buNone/>
            </a:pPr>
            <a:r>
              <a:rPr lang="en-US" sz="1575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論理単位で取り消せる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552450" y="7553325"/>
            <a:ext cx="171831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F08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commit. One intent. One review. </a:t>
            </a:r>
            <a:pPr algn="ctr" indent="0" marL="0">
              <a:buNone/>
            </a:pPr>
            <a:r>
              <a:rPr lang="en-US" sz="195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／ 1コミット。1つの意図。1回のレビュー。</a:t>
            </a:r>
            <a:endParaRPr lang="en-US" sz="2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857250"/>
            <a:ext cx="16089630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Rebase: 4 Everyday Actions + 1 Dangerous One </a:t>
            </a:r>
            <a:pPr algn="l" indent="0" marL="0">
              <a:buNone/>
            </a:pPr>
            <a:r>
              <a:rPr lang="en-US" sz="22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LIVE DEMO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333500" y="2152650"/>
            <a:ext cx="171831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対話的リベース：日常で使う4つ + 危険な1つ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333500" y="2790825"/>
            <a:ext cx="171831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rebase -i HEAD~3 </a:t>
            </a:r>
            <a:pPr algn="l" indent="0" marL="0">
              <a:buNone/>
            </a:pPr>
            <a:r>
              <a:rPr lang="en-US" sz="2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rewrite the last 3 commits / 直近3コミットを書き換え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333500" y="3495675"/>
            <a:ext cx="15621000" cy="723900"/>
          </a:xfrm>
          <a:prstGeom prst="roundRect">
            <a:avLst>
              <a:gd name="adj" fmla="val 13158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7825" y="3695700"/>
            <a:ext cx="18859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pick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3629025" y="3698081"/>
            <a:ext cx="1431226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commit as-is </a:t>
            </a:r>
            <a:pPr algn="l" indent="0" marL="0">
              <a:buNone/>
            </a:pPr>
            <a:r>
              <a:rPr lang="en-US" sz="165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／ そのまま使う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1333500" y="4371975"/>
            <a:ext cx="15621000" cy="723900"/>
          </a:xfrm>
          <a:prstGeom prst="roundRect">
            <a:avLst>
              <a:gd name="adj" fmla="val 13158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7825" y="4572000"/>
            <a:ext cx="18859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reword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3629025" y="4574381"/>
            <a:ext cx="1431226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it, but fix the message </a:t>
            </a:r>
            <a:pPr algn="l" indent="0" marL="0">
              <a:buNone/>
            </a:pPr>
            <a:r>
              <a:rPr lang="en-US" sz="165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／ メッセージだけ直す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1333500" y="5248275"/>
            <a:ext cx="15621000" cy="723900"/>
          </a:xfrm>
          <a:prstGeom prst="roundRect">
            <a:avLst>
              <a:gd name="adj" fmla="val 13158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7825" y="5448300"/>
            <a:ext cx="18859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squash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3629025" y="5450681"/>
            <a:ext cx="1431226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Melt into the commit ABOVE it — messages combine </a:t>
            </a:r>
            <a:pPr algn="l" indent="0" marL="0">
              <a:buNone/>
            </a:pPr>
            <a:r>
              <a:rPr lang="en-US" sz="165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／ 上のコミットに統合（メッセージ結合）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1333500" y="6124575"/>
            <a:ext cx="15621000" cy="723900"/>
          </a:xfrm>
          <a:prstGeom prst="roundRect">
            <a:avLst>
              <a:gd name="adj" fmla="val 13158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47825" y="6324600"/>
            <a:ext cx="18859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fixup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3629025" y="6326981"/>
            <a:ext cx="1431226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as squash, but throw this message away </a:t>
            </a:r>
            <a:pPr algn="l" indent="0" marL="0">
              <a:buNone/>
            </a:pPr>
            <a:r>
              <a:rPr lang="en-US" sz="165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／ squashと同じ、メッセージは破棄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1333500" y="7000875"/>
            <a:ext cx="15621000" cy="723900"/>
          </a:xfrm>
          <a:prstGeom prst="roundRect">
            <a:avLst>
              <a:gd name="adj" fmla="val 13158"/>
            </a:avLst>
          </a:prstGeom>
          <a:solidFill>
            <a:srgbClr val="161B22">
              <a:alpha val="65000"/>
            </a:srgbClr>
          </a:solidFill>
          <a:ln w="9525">
            <a:solidFill>
              <a:srgbClr val="30363D">
                <a:alpha val="6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47825" y="7200900"/>
            <a:ext cx="18859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85149">
                    <a:alpha val="6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3629025" y="7203281"/>
            <a:ext cx="1431226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E6EDF3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the commit entirely — careful </a:t>
            </a:r>
            <a:pPr algn="l" indent="0" marL="0">
              <a:buNone/>
            </a:pPr>
            <a:r>
              <a:rPr lang="en-US" sz="1650" dirty="0">
                <a:solidFill>
                  <a:srgbClr val="9198A1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／ コミットを完全に削除 — 注意</a:t>
            </a:r>
            <a:endParaRPr lang="en-US" sz="2025" dirty="0"/>
          </a:p>
        </p:txBody>
      </p:sp>
      <p:sp>
        <p:nvSpPr>
          <p:cNvPr id="20" name="Shape 18"/>
          <p:cNvSpPr/>
          <p:nvPr/>
        </p:nvSpPr>
        <p:spPr>
          <a:xfrm>
            <a:off x="1333500" y="8067675"/>
            <a:ext cx="15621000" cy="1209675"/>
          </a:xfrm>
          <a:prstGeom prst="roundRect">
            <a:avLst>
              <a:gd name="adj" fmla="val 9449"/>
            </a:avLst>
          </a:prstGeom>
          <a:solidFill>
            <a:srgbClr val="F85149">
              <a:alpha val="12000"/>
            </a:srgbClr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57350" y="8315325"/>
            <a:ext cx="1647063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⚑ Golden Rule: NEVER rebase commits already pushed to a shared branch.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657350" y="8715375"/>
            <a:ext cx="1647063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ゴールデンルール：共有ブランチにプッシュ済みのコミットは絶対にリベースしない。自分だけのブランチならOK。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857250"/>
            <a:ext cx="171831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Cherry-Pick &amp; Stash: Surgical Tools </a:t>
            </a:r>
            <a:pPr algn="l" indent="0" marL="0">
              <a:buNone/>
            </a:pPr>
            <a:r>
              <a:rPr lang="en-US" sz="22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LIVE DEMO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333500" y="1524000"/>
            <a:ext cx="171831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Cherry-PickとStash：外科的ツール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333500" y="2352675"/>
            <a:ext cx="7620000" cy="7077075"/>
          </a:xfrm>
          <a:prstGeom prst="roundRect">
            <a:avLst>
              <a:gd name="adj" fmla="val 1615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85925" y="2705100"/>
            <a:ext cx="760666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cherry-pick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685925" y="3200400"/>
            <a:ext cx="760666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ONE specific commit from any branch onto this one.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685925" y="3548063"/>
            <a:ext cx="760666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任意のブランチから特定のコミットだけをコピーして適用。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685925" y="4067175"/>
            <a:ext cx="7122605" cy="127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7091"/>
              </a:lnSpc>
              <a:buNone/>
            </a:pPr>
            <a:r>
              <a:rPr lang="en-US" sz="180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Backport a security fix to an old release · Your hotfix landed on the wrong branch </a:t>
            </a:r>
            <a:pPr algn="l" indent="0" marL="0">
              <a:lnSpc>
                <a:spcPct val="157091"/>
              </a:lnSpc>
              <a:buNone/>
            </a:pPr>
            <a:r>
              <a:rPr lang="en-US" sz="150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古いリリースへの修正バックポート／誤ブランチのhotfix救出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685925" y="5530081"/>
            <a:ext cx="6915150" cy="1683841"/>
          </a:xfrm>
          <a:prstGeom prst="roundRect">
            <a:avLst>
              <a:gd name="adj" fmla="val 4525"/>
            </a:avLst>
          </a:prstGeom>
          <a:solidFill>
            <a:srgbClr val="0D1117"/>
          </a:solidFill>
          <a:ln/>
        </p:spPr>
      </p:sp>
      <p:sp>
        <p:nvSpPr>
          <p:cNvPr id="10" name="Text 8"/>
          <p:cNvSpPr/>
          <p:nvPr/>
        </p:nvSpPr>
        <p:spPr>
          <a:xfrm>
            <a:off x="1914525" y="5720581"/>
            <a:ext cx="6651689" cy="47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8889"/>
              </a:lnSpc>
              <a:buNone/>
            </a:pPr>
            <a:r>
              <a:rPr lang="en-US" sz="18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cherry-pick abc1234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914525" y="6154862"/>
            <a:ext cx="6651689" cy="47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8889"/>
              </a:lnSpc>
              <a:buNone/>
            </a:pPr>
            <a:r>
              <a:rPr lang="en-US" sz="18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cherry-pick abc..def </a:t>
            </a:r>
            <a:pPr algn="l" indent="0" marL="0">
              <a:lnSpc>
                <a:spcPct val="168889"/>
              </a:lnSpc>
              <a:buNone/>
            </a:pPr>
            <a:r>
              <a:rPr lang="en-US" sz="1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range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914525" y="6589142"/>
            <a:ext cx="6651689" cy="47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8889"/>
              </a:lnSpc>
              <a:buNone/>
            </a:pPr>
            <a:r>
              <a:rPr lang="en-US" sz="18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cherry-pick -n abc1234 </a:t>
            </a:r>
            <a:pPr algn="l" indent="0" marL="0">
              <a:lnSpc>
                <a:spcPct val="168889"/>
              </a:lnSpc>
              <a:buNone/>
            </a:pPr>
            <a:r>
              <a:rPr lang="en-US" sz="1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stage only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334500" y="2352675"/>
            <a:ext cx="7620000" cy="7077075"/>
          </a:xfrm>
          <a:prstGeom prst="roundRect">
            <a:avLst>
              <a:gd name="adj" fmla="val 1615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86925" y="2705100"/>
            <a:ext cx="760666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stash — done right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686925" y="3200400"/>
            <a:ext cx="760666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people only know push/pop. You're missing: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686925" y="3548063"/>
            <a:ext cx="760666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多くの人はstash/popしか知らない。知らないと損な機能：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9686925" y="4067175"/>
            <a:ext cx="6915150" cy="2552402"/>
          </a:xfrm>
          <a:prstGeom prst="roundRect">
            <a:avLst>
              <a:gd name="adj" fmla="val 2985"/>
            </a:avLst>
          </a:prstGeom>
          <a:solidFill>
            <a:srgbClr val="0D1117"/>
          </a:solidFill>
          <a:ln/>
        </p:spPr>
      </p:sp>
      <p:sp>
        <p:nvSpPr>
          <p:cNvPr id="18" name="Text 16"/>
          <p:cNvSpPr/>
          <p:nvPr/>
        </p:nvSpPr>
        <p:spPr>
          <a:xfrm>
            <a:off x="9915525" y="4257675"/>
            <a:ext cx="6651689" cy="47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8889"/>
              </a:lnSpc>
              <a:buNone/>
            </a:pPr>
            <a:r>
              <a:rPr lang="en-US" sz="18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stash push -m "auth WIP" </a:t>
            </a:r>
            <a:pPr algn="l" indent="0" marL="0">
              <a:lnSpc>
                <a:spcPct val="168889"/>
              </a:lnSpc>
              <a:buNone/>
            </a:pPr>
            <a:r>
              <a:rPr lang="en-US" sz="1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name it!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915525" y="4691955"/>
            <a:ext cx="6651689" cy="47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8889"/>
              </a:lnSpc>
              <a:buNone/>
            </a:pPr>
            <a:r>
              <a:rPr lang="en-US" sz="18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stash -u </a:t>
            </a:r>
            <a:pPr algn="l" indent="0" marL="0">
              <a:lnSpc>
                <a:spcPct val="168889"/>
              </a:lnSpc>
              <a:buNone/>
            </a:pPr>
            <a:r>
              <a:rPr lang="en-US" sz="1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include untracked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915525" y="5126236"/>
            <a:ext cx="6651689" cy="47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8889"/>
              </a:lnSpc>
              <a:buNone/>
            </a:pPr>
            <a:r>
              <a:rPr lang="en-US" sz="18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stash list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915525" y="5560516"/>
            <a:ext cx="6651689" cy="47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8889"/>
              </a:lnSpc>
              <a:buNone/>
            </a:pPr>
            <a:r>
              <a:rPr lang="en-US" sz="18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stash apply stash@{2} </a:t>
            </a:r>
            <a:pPr algn="l" indent="0" marL="0">
              <a:lnSpc>
                <a:spcPct val="168889"/>
              </a:lnSpc>
              <a:buNone/>
            </a:pPr>
            <a:r>
              <a:rPr lang="en-US" sz="1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specific one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915525" y="5994797"/>
            <a:ext cx="6651689" cy="47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8889"/>
              </a:lnSpc>
              <a:buNone/>
            </a:pPr>
            <a:r>
              <a:rPr lang="en-US" sz="18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stash push src/auth.py </a:t>
            </a:r>
            <a:pPr algn="l" indent="0" marL="0">
              <a:lnSpc>
                <a:spcPct val="168889"/>
              </a:lnSpc>
              <a:buNone/>
            </a:pPr>
            <a:r>
              <a:rPr lang="en-US" sz="1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one file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686925" y="6810077"/>
            <a:ext cx="7122605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名前を付ける／未追跡ファイルも含める／特定のstashだけ適用／1ファイルだけstash</a:t>
            </a:r>
            <a:endParaRPr lang="en-US" sz="1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666750"/>
            <a:ext cx="9651087" cy="709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 1 — Build Your Own Repo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10412016" y="928688"/>
            <a:ext cx="1697355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1.5 hours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333500" y="1376363"/>
            <a:ext cx="17183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演習1 — 自分のリポジトリを作る（1.5時間）· 手順は EXERCISE1.txt · 証拠はすべて README.md に書く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1333500" y="2024062"/>
            <a:ext cx="7677150" cy="2089100"/>
          </a:xfrm>
          <a:prstGeom prst="roundRect">
            <a:avLst>
              <a:gd name="adj" fmla="val 4559"/>
            </a:avLst>
          </a:prstGeom>
          <a:solidFill>
            <a:srgbClr val="0D1117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09725" y="2928119"/>
            <a:ext cx="11239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min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2886075" y="2647131"/>
            <a:ext cx="6023800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— Create a PUBLIC repo git-practice-&lt;username&gt;, clone it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2886075" y="3228156"/>
            <a:ext cx="643318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公開リポジトリを作成してクローン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277350" y="2024062"/>
            <a:ext cx="7677150" cy="2089100"/>
          </a:xfrm>
          <a:prstGeom prst="roundRect">
            <a:avLst>
              <a:gd name="adj" fmla="val 4559"/>
            </a:avLst>
          </a:prstGeom>
          <a:solidFill>
            <a:srgbClr val="0D1117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53575" y="2928119"/>
            <a:ext cx="11239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min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0829925" y="2647131"/>
            <a:ext cx="6023800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— Internals hunt: answer 6 questions in README.md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0829925" y="3228156"/>
            <a:ext cx="643318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.git/ 探検：6つの質問にREADMEで回答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333500" y="4265563"/>
            <a:ext cx="7677150" cy="2089175"/>
          </a:xfrm>
          <a:prstGeom prst="roundRect">
            <a:avLst>
              <a:gd name="adj" fmla="val 4559"/>
            </a:avLst>
          </a:prstGeom>
          <a:solidFill>
            <a:srgbClr val="0D1117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09725" y="5169619"/>
            <a:ext cx="11239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min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2886075" y="5033888"/>
            <a:ext cx="643318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— Branch + 3 conventional commits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2886075" y="5324401"/>
            <a:ext cx="643318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ブランチ + 規約形式コミット3つ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277350" y="4265563"/>
            <a:ext cx="7677150" cy="2089175"/>
          </a:xfrm>
          <a:prstGeom prst="roundRect">
            <a:avLst>
              <a:gd name="adj" fmla="val 4559"/>
            </a:avLst>
          </a:prstGeom>
          <a:solidFill>
            <a:srgbClr val="0D1117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53575" y="5169619"/>
            <a:ext cx="11239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min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0829925" y="4888632"/>
            <a:ext cx="6023800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— Make 3 messy commits → rebase -i → squash to 1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0829925" y="5469657"/>
            <a:ext cx="643318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雑なコミット3つ → rebase -i で1つに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333500" y="6507138"/>
            <a:ext cx="7677150" cy="1798662"/>
          </a:xfrm>
          <a:prstGeom prst="roundRect">
            <a:avLst>
              <a:gd name="adj" fmla="val 5296"/>
            </a:avLst>
          </a:prstGeom>
          <a:solidFill>
            <a:srgbClr val="0D1117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09725" y="7265938"/>
            <a:ext cx="11239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min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2886075" y="7130207"/>
            <a:ext cx="643318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— Create your own merge conflict → resolve it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2886075" y="7420719"/>
            <a:ext cx="643318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自分でコンフリクトを起こして解決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277350" y="6507138"/>
            <a:ext cx="7677150" cy="1798662"/>
          </a:xfrm>
          <a:prstGeom prst="roundRect">
            <a:avLst>
              <a:gd name="adj" fmla="val 5296"/>
            </a:avLst>
          </a:prstGeom>
          <a:solidFill>
            <a:srgbClr val="0D1117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53575" y="7265938"/>
            <a:ext cx="11239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min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0829925" y="7130207"/>
            <a:ext cx="643318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— Cherry-pick from a side branch + named stash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10829925" y="7420719"/>
            <a:ext cx="643318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サイドブランチからcherry-pick + 名前付きstash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1333500" y="8572500"/>
            <a:ext cx="15621000" cy="1047750"/>
          </a:xfrm>
          <a:prstGeom prst="roundRect">
            <a:avLst>
              <a:gd name="adj" fmla="val 9091"/>
            </a:avLst>
          </a:prstGeom>
          <a:solidFill>
            <a:srgbClr val="3FB950">
              <a:alpha val="10000"/>
            </a:srgbClr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09725" y="8772525"/>
            <a:ext cx="1553718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Submit: push everything, then send me your repo URL. </a:t>
            </a:r>
            <a:pPr algn="l" indent="0" marL="0">
              <a:buNone/>
            </a:pPr>
            <a:r>
              <a:rPr lang="en-US" sz="180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提出：全部プッシュして、リポジトリのURLを先生に送る。README.mdがあなたの成績です。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2211288"/>
            <a:ext cx="17183100" cy="1762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F0883E">
                    <a:alpha val="3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1333500" y="4049613"/>
            <a:ext cx="16089630" cy="2049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566"/>
              </a:lnSpc>
              <a:buNone/>
            </a:pPr>
            <a:r>
              <a:rPr lang="en-US" sz="72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&amp; Disaster Recovery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333500" y="6213574"/>
            <a:ext cx="17183100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自動化と障害復旧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33500" y="7275612"/>
            <a:ext cx="171831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Hooks, worktrees, reflog — and the 'Oh No' playbook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333500" y="7732812"/>
            <a:ext cx="17183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フック・ワークツリー・reflog・「やばい！」対処集</a:t>
            </a:r>
            <a:endParaRPr lang="en-US" sz="1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857250"/>
            <a:ext cx="171831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Hooks: Quality Gates That Run Themselves </a:t>
            </a:r>
            <a:pPr algn="l" indent="0" marL="0">
              <a:buNone/>
            </a:pPr>
            <a:r>
              <a:rPr lang="en-US" sz="22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LIVE DEMO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333500" y="1524000"/>
            <a:ext cx="171831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Gitフック：自動実行される品質ゲート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333500" y="2085975"/>
            <a:ext cx="17183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Scripts in </a:t>
            </a:r>
            <a:pPr algn="l" indent="0" marL="0">
              <a:buNone/>
            </a:pPr>
            <a:r>
              <a:rPr lang="en-US" sz="1950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.git/hooks/ </a:t>
            </a:r>
            <a:pPr algn="l" indent="0" marL="0">
              <a:buNone/>
            </a:pPr>
            <a:r>
              <a:rPr lang="en-US" sz="19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fire on Git events. Must be executable: </a:t>
            </a:r>
            <a:pPr algn="l" indent="0" marL="0">
              <a:buNone/>
            </a:pPr>
            <a:r>
              <a:rPr lang="en-US" sz="1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chmod +x </a:t>
            </a:r>
            <a:pPr algn="l" indent="0" marL="0">
              <a:buNone/>
            </a:pPr>
            <a:r>
              <a:rPr lang="en-US" sz="19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／ .git/hooks/に置くと自動実行。実行権限が必要。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1333500" y="2809875"/>
            <a:ext cx="15621000" cy="4005262"/>
          </a:xfrm>
          <a:prstGeom prst="roundRect">
            <a:avLst>
              <a:gd name="adj" fmla="val 2854"/>
            </a:avLst>
          </a:prstGeom>
          <a:ln w="9525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3025" y="2819400"/>
            <a:ext cx="2667000" cy="6858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1343025" y="3495675"/>
            <a:ext cx="2667000" cy="952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8" name="Text 6"/>
          <p:cNvSpPr/>
          <p:nvPr/>
        </p:nvSpPr>
        <p:spPr>
          <a:xfrm>
            <a:off x="1609725" y="2990850"/>
            <a:ext cx="221361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08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4010025" y="2819400"/>
            <a:ext cx="6467475" cy="6858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0" name="Shape 8"/>
          <p:cNvSpPr/>
          <p:nvPr/>
        </p:nvSpPr>
        <p:spPr>
          <a:xfrm>
            <a:off x="4010025" y="3495675"/>
            <a:ext cx="6467475" cy="952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1" name="Text 9"/>
          <p:cNvSpPr/>
          <p:nvPr/>
        </p:nvSpPr>
        <p:spPr>
          <a:xfrm>
            <a:off x="4276725" y="2990850"/>
            <a:ext cx="612809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08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Fires when… / タイミング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10477500" y="2819400"/>
            <a:ext cx="6467475" cy="6858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3" name="Shape 11"/>
          <p:cNvSpPr/>
          <p:nvPr/>
        </p:nvSpPr>
        <p:spPr>
          <a:xfrm>
            <a:off x="10477500" y="3495675"/>
            <a:ext cx="6467475" cy="952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4" name="Text 12"/>
          <p:cNvSpPr/>
          <p:nvPr/>
        </p:nvSpPr>
        <p:spPr>
          <a:xfrm>
            <a:off x="10744200" y="2990850"/>
            <a:ext cx="612809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08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use / 実用例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1343025" y="4157663"/>
            <a:ext cx="2667000" cy="9525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6" name="Text 14"/>
          <p:cNvSpPr/>
          <p:nvPr/>
        </p:nvSpPr>
        <p:spPr>
          <a:xfrm>
            <a:off x="1609725" y="3676650"/>
            <a:ext cx="221361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pre-commit ★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4010025" y="4157663"/>
            <a:ext cx="6467475" cy="9525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8" name="Text 16"/>
          <p:cNvSpPr/>
          <p:nvPr/>
        </p:nvSpPr>
        <p:spPr>
          <a:xfrm>
            <a:off x="4276725" y="3676650"/>
            <a:ext cx="612809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the commit is recorded </a:t>
            </a:r>
            <a:pPr algn="l" indent="0" marL="0">
              <a:buNone/>
            </a:pPr>
            <a:r>
              <a:rPr lang="en-US" sz="15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コミット記録前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10477500" y="4157663"/>
            <a:ext cx="6467475" cy="9525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3676650"/>
            <a:ext cx="612809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Linter, type-check, secrets scan </a:t>
            </a:r>
            <a:pPr algn="l" indent="0" marL="0">
              <a:buNone/>
            </a:pPr>
            <a:r>
              <a:rPr lang="en-US" sz="15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Lint・シークレット検出</a:t>
            </a:r>
            <a:endParaRPr lang="en-US" sz="1875" dirty="0"/>
          </a:p>
        </p:txBody>
      </p:sp>
      <p:sp>
        <p:nvSpPr>
          <p:cNvPr id="21" name="Shape 19"/>
          <p:cNvSpPr/>
          <p:nvPr/>
        </p:nvSpPr>
        <p:spPr>
          <a:xfrm>
            <a:off x="1343025" y="4819650"/>
            <a:ext cx="2667000" cy="9525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22" name="Text 20"/>
          <p:cNvSpPr/>
          <p:nvPr/>
        </p:nvSpPr>
        <p:spPr>
          <a:xfrm>
            <a:off x="1609725" y="4338638"/>
            <a:ext cx="221361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commit-msg ★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4010025" y="4819650"/>
            <a:ext cx="6467475" cy="9525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24" name="Text 22"/>
          <p:cNvSpPr/>
          <p:nvPr/>
        </p:nvSpPr>
        <p:spPr>
          <a:xfrm>
            <a:off x="4276725" y="4338638"/>
            <a:ext cx="612809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the message is written </a:t>
            </a:r>
            <a:pPr algn="l" indent="0" marL="0">
              <a:buNone/>
            </a:pPr>
            <a:r>
              <a:rPr lang="en-US" sz="15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メッセージ入力後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10477500" y="4819650"/>
            <a:ext cx="6467475" cy="9525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26" name="Text 24"/>
          <p:cNvSpPr/>
          <p:nvPr/>
        </p:nvSpPr>
        <p:spPr>
          <a:xfrm>
            <a:off x="10744200" y="4338638"/>
            <a:ext cx="612809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 commit-message format </a:t>
            </a:r>
            <a:pPr algn="l" indent="0" marL="0">
              <a:buNone/>
            </a:pPr>
            <a:r>
              <a:rPr lang="en-US" sz="15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規約形式を強制</a:t>
            </a:r>
            <a:endParaRPr lang="en-US" sz="1875" dirty="0"/>
          </a:p>
        </p:txBody>
      </p:sp>
      <p:sp>
        <p:nvSpPr>
          <p:cNvPr id="27" name="Shape 25"/>
          <p:cNvSpPr/>
          <p:nvPr/>
        </p:nvSpPr>
        <p:spPr>
          <a:xfrm>
            <a:off x="1343025" y="5481638"/>
            <a:ext cx="2667000" cy="9525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28" name="Text 26"/>
          <p:cNvSpPr/>
          <p:nvPr/>
        </p:nvSpPr>
        <p:spPr>
          <a:xfrm>
            <a:off x="1609725" y="5000625"/>
            <a:ext cx="221361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pre-push</a:t>
            </a:r>
            <a:endParaRPr lang="en-US" sz="1875" dirty="0"/>
          </a:p>
        </p:txBody>
      </p:sp>
      <p:sp>
        <p:nvSpPr>
          <p:cNvPr id="29" name="Shape 27"/>
          <p:cNvSpPr/>
          <p:nvPr/>
        </p:nvSpPr>
        <p:spPr>
          <a:xfrm>
            <a:off x="4010025" y="5481638"/>
            <a:ext cx="6467475" cy="9525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30" name="Text 28"/>
          <p:cNvSpPr/>
          <p:nvPr/>
        </p:nvSpPr>
        <p:spPr>
          <a:xfrm>
            <a:off x="4276725" y="5000625"/>
            <a:ext cx="612809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pushing to remote </a:t>
            </a:r>
            <a:pPr algn="l" indent="0" marL="0">
              <a:buNone/>
            </a:pPr>
            <a:r>
              <a:rPr lang="en-US" sz="15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プッシュ前</a:t>
            </a:r>
            <a:endParaRPr lang="en-US" sz="1875" dirty="0"/>
          </a:p>
        </p:txBody>
      </p:sp>
      <p:sp>
        <p:nvSpPr>
          <p:cNvPr id="31" name="Shape 29"/>
          <p:cNvSpPr/>
          <p:nvPr/>
        </p:nvSpPr>
        <p:spPr>
          <a:xfrm>
            <a:off x="10477500" y="5481638"/>
            <a:ext cx="6467475" cy="9525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32" name="Text 30"/>
          <p:cNvSpPr/>
          <p:nvPr/>
        </p:nvSpPr>
        <p:spPr>
          <a:xfrm>
            <a:off x="10744200" y="5000625"/>
            <a:ext cx="612809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full test suite </a:t>
            </a:r>
            <a:pPr algn="l" indent="0" marL="0">
              <a:buNone/>
            </a:pPr>
            <a:r>
              <a:rPr lang="en-US" sz="15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フルテスト実行</a:t>
            </a:r>
            <a:endParaRPr lang="en-US" sz="1875" dirty="0"/>
          </a:p>
        </p:txBody>
      </p:sp>
      <p:sp>
        <p:nvSpPr>
          <p:cNvPr id="33" name="Shape 31"/>
          <p:cNvSpPr/>
          <p:nvPr/>
        </p:nvSpPr>
        <p:spPr>
          <a:xfrm>
            <a:off x="1343025" y="6143625"/>
            <a:ext cx="2667000" cy="9525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34" name="Text 32"/>
          <p:cNvSpPr/>
          <p:nvPr/>
        </p:nvSpPr>
        <p:spPr>
          <a:xfrm>
            <a:off x="1609725" y="5662613"/>
            <a:ext cx="221361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post-checkout</a:t>
            </a:r>
            <a:endParaRPr lang="en-US" sz="1875" dirty="0"/>
          </a:p>
        </p:txBody>
      </p:sp>
      <p:sp>
        <p:nvSpPr>
          <p:cNvPr id="35" name="Shape 33"/>
          <p:cNvSpPr/>
          <p:nvPr/>
        </p:nvSpPr>
        <p:spPr>
          <a:xfrm>
            <a:off x="4010025" y="6143625"/>
            <a:ext cx="6467475" cy="9525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36" name="Text 34"/>
          <p:cNvSpPr/>
          <p:nvPr/>
        </p:nvSpPr>
        <p:spPr>
          <a:xfrm>
            <a:off x="4276725" y="5662613"/>
            <a:ext cx="612809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checkout / switch </a:t>
            </a:r>
            <a:pPr algn="l" indent="0" marL="0">
              <a:buNone/>
            </a:pPr>
            <a:r>
              <a:rPr lang="en-US" sz="15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切り替え後</a:t>
            </a:r>
            <a:endParaRPr lang="en-US" sz="1875" dirty="0"/>
          </a:p>
        </p:txBody>
      </p:sp>
      <p:sp>
        <p:nvSpPr>
          <p:cNvPr id="37" name="Shape 35"/>
          <p:cNvSpPr/>
          <p:nvPr/>
        </p:nvSpPr>
        <p:spPr>
          <a:xfrm>
            <a:off x="10477500" y="6143625"/>
            <a:ext cx="6467475" cy="9525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38" name="Text 36"/>
          <p:cNvSpPr/>
          <p:nvPr/>
        </p:nvSpPr>
        <p:spPr>
          <a:xfrm>
            <a:off x="10744200" y="5662613"/>
            <a:ext cx="612809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npm install </a:t>
            </a:r>
            <a:pPr algn="l" indent="0" marL="0">
              <a:buNone/>
            </a:pPr>
            <a:r>
              <a:rPr lang="en-US" sz="15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自動インストール</a:t>
            </a:r>
            <a:endParaRPr lang="en-US" sz="1875" dirty="0"/>
          </a:p>
        </p:txBody>
      </p:sp>
      <p:sp>
        <p:nvSpPr>
          <p:cNvPr id="39" name="Text 37"/>
          <p:cNvSpPr/>
          <p:nvPr/>
        </p:nvSpPr>
        <p:spPr>
          <a:xfrm>
            <a:off x="1609725" y="6324600"/>
            <a:ext cx="221361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post-merge</a:t>
            </a:r>
            <a:endParaRPr lang="en-US" sz="1875" dirty="0"/>
          </a:p>
        </p:txBody>
      </p:sp>
      <p:sp>
        <p:nvSpPr>
          <p:cNvPr id="40" name="Text 38"/>
          <p:cNvSpPr/>
          <p:nvPr/>
        </p:nvSpPr>
        <p:spPr>
          <a:xfrm>
            <a:off x="4276725" y="6324600"/>
            <a:ext cx="612809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a merge completes </a:t>
            </a:r>
            <a:pPr algn="l" indent="0" marL="0">
              <a:buNone/>
            </a:pPr>
            <a:r>
              <a:rPr lang="en-US" sz="15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マージ後</a:t>
            </a:r>
            <a:endParaRPr lang="en-US" sz="1875" dirty="0"/>
          </a:p>
        </p:txBody>
      </p:sp>
      <p:sp>
        <p:nvSpPr>
          <p:cNvPr id="41" name="Text 39"/>
          <p:cNvSpPr/>
          <p:nvPr/>
        </p:nvSpPr>
        <p:spPr>
          <a:xfrm>
            <a:off x="10744200" y="6324600"/>
            <a:ext cx="612809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Remind: run DB migrations </a:t>
            </a:r>
            <a:pPr algn="l" indent="0" marL="0">
              <a:buNone/>
            </a:pPr>
            <a:r>
              <a:rPr lang="en-US" sz="15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マイグレーション通知</a:t>
            </a:r>
            <a:endParaRPr lang="en-US" sz="1875" dirty="0"/>
          </a:p>
        </p:txBody>
      </p:sp>
      <p:sp>
        <p:nvSpPr>
          <p:cNvPr id="42" name="Text 40"/>
          <p:cNvSpPr/>
          <p:nvPr/>
        </p:nvSpPr>
        <p:spPr>
          <a:xfrm>
            <a:off x="1333500" y="7043738"/>
            <a:ext cx="171831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08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= you'll install both of these in today's workshop ／ 今日のワークショップで両方導入する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70933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oops.txt → git add oops.txt → git commit -m 'feat: config' → BLOCKED with the error message. Then walk the script top to bottom: pattern → scan staged files only → exit 1 blocks, exit 0 allows. Clean up: git restore --staged oops.txt; rm oops.txt. Students repeat in Exercise 2." style="background:#0d1117; color:#e6edf3; display:flex; flex-direction:column; padding:90px 140px; box-sizing:border-box;"&gt;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361950"/>
            <a:ext cx="201168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Hook: Block Committed Secrets </a:t>
            </a:r>
            <a:pPr algn="l" indent="0" marL="0">
              <a:buNone/>
            </a:pPr>
            <a:r>
              <a:rPr lang="en-US" sz="22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LIVE DEMO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0" y="1028700"/>
            <a:ext cx="201168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実用フック：シークレットのコミットをブロック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1819275"/>
            <a:ext cx="10739438" cy="5757863"/>
          </a:xfrm>
          <a:prstGeom prst="roundRect">
            <a:avLst>
              <a:gd name="adj" fmla="val 1985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2425" y="2133600"/>
            <a:ext cx="10335625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6667"/>
              </a:lnSpc>
              <a:buNone/>
            </a:pPr>
            <a:r>
              <a:rPr lang="en-US" sz="1875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.git/hooks/pre-commit (chmod +x)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352425" y="2738438"/>
            <a:ext cx="10335625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6667"/>
              </a:lnSpc>
              <a:buNone/>
            </a:pPr>
            <a:r>
              <a:rPr lang="en-US" sz="1875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#!/bin/bash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352425" y="3190875"/>
            <a:ext cx="10335625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6667"/>
              </a:lnSpc>
              <a:buNone/>
            </a:pPr>
            <a:r>
              <a:rPr lang="en-US" sz="1875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Patterns that look like hardcoded secrets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352425" y="3643313"/>
            <a:ext cx="10335625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6667"/>
              </a:lnSpc>
              <a:buNone/>
            </a:pPr>
            <a:r>
              <a:rPr lang="en-US" sz="1875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PATTERNS="(password|api_key|secret|token)..."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352425" y="4095750"/>
            <a:ext cx="10335625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6667"/>
              </a:lnSpc>
              <a:buNone/>
            </a:pPr>
            <a:r>
              <a:rPr lang="en-US" sz="1875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Scan ONLY staged files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352425" y="4548188"/>
            <a:ext cx="10335625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6667"/>
              </a:lnSpc>
              <a:buNone/>
            </a:pPr>
            <a:r>
              <a:rPr lang="en-US" sz="1875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git diff --cached --name-only | \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352425" y="5000625"/>
            <a:ext cx="10335625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6667"/>
              </a:lnSpc>
              <a:buNone/>
            </a:pPr>
            <a:r>
              <a:rPr lang="en-US" sz="1875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xargs grep -iE "$PATTERNS"; then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352425" y="5453063"/>
            <a:ext cx="10335625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6667"/>
              </a:lnSpc>
              <a:buNone/>
            </a:pPr>
            <a:r>
              <a:rPr lang="en-US" sz="1875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"ERROR: possible secret in staged files"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352425" y="5905500"/>
            <a:ext cx="10335625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6667"/>
              </a:lnSpc>
              <a:buNone/>
            </a:pPr>
            <a:r>
              <a:rPr lang="en-US" sz="1875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 1 </a:t>
            </a:r>
            <a:pPr algn="l" indent="0" marL="0">
              <a:lnSpc>
                <a:spcPct val="166667"/>
              </a:lnSpc>
              <a:buNone/>
            </a:pPr>
            <a:r>
              <a:rPr lang="en-US" sz="1875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non-zero exit BLOCKS the commit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352425" y="6357938"/>
            <a:ext cx="10335625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6667"/>
              </a:lnSpc>
              <a:buNone/>
            </a:pPr>
            <a:r>
              <a:rPr lang="en-US" sz="1875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352425" y="6810375"/>
            <a:ext cx="10335625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6667"/>
              </a:lnSpc>
              <a:buNone/>
            </a:pPr>
            <a:r>
              <a:rPr lang="en-US" sz="1875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 0 </a:t>
            </a:r>
            <a:pPr algn="l" indent="0" marL="0">
              <a:lnSpc>
                <a:spcPct val="166667"/>
              </a:lnSpc>
              <a:buNone/>
            </a:pPr>
            <a:r>
              <a:rPr lang="en-US" sz="1875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all clear — commit proceeds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11120438" y="1819275"/>
            <a:ext cx="7167563" cy="2124968"/>
          </a:xfrm>
          <a:prstGeom prst="roundRect">
            <a:avLst>
              <a:gd name="adj" fmla="val 5379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4763" y="2095500"/>
            <a:ext cx="719280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08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/ 仕組み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1434763" y="2552700"/>
            <a:ext cx="6735080" cy="81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8364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runs this script before every commit. </a:t>
            </a:r>
            <a:pPr algn="l" indent="0" marL="0">
              <a:lnSpc>
                <a:spcPct val="148364"/>
              </a:lnSpc>
              <a:buNone/>
            </a:pPr>
            <a:r>
              <a:rPr lang="en-US" sz="180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 1 </a:t>
            </a:r>
            <a:pPr algn="l" indent="0" marL="0">
              <a:lnSpc>
                <a:spcPct val="148364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commit blocked. </a:t>
            </a:r>
            <a:pPr algn="l" indent="0" marL="0">
              <a:lnSpc>
                <a:spcPct val="148364"/>
              </a:lnSpc>
              <a:buNone/>
            </a:pPr>
            <a:r>
              <a:rPr lang="en-US" sz="18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 0 </a:t>
            </a:r>
            <a:pPr algn="l" indent="0" marL="0">
              <a:lnSpc>
                <a:spcPct val="148364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commit proceeds.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434763" y="3406080"/>
            <a:ext cx="719280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コミット前に毎回実行。exit 1でブロック、exit 0で続行。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1120438" y="4172843"/>
            <a:ext cx="7167563" cy="2076376"/>
          </a:xfrm>
          <a:prstGeom prst="roundRect">
            <a:avLst>
              <a:gd name="adj" fmla="val 5505"/>
            </a:avLst>
          </a:prstGeom>
          <a:solidFill>
            <a:srgbClr val="F0883E">
              <a:alpha val="10000"/>
            </a:srgbClr>
          </a:solidFill>
          <a:ln w="9525">
            <a:solidFill>
              <a:srgbClr val="F088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4763" y="4449068"/>
            <a:ext cx="719280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08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tip / チームへのヒント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1434763" y="4906268"/>
            <a:ext cx="6735080" cy="73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296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.git/hooks/ </a:t>
            </a:r>
            <a:pPr algn="l" indent="0" marL="0">
              <a:lnSpc>
                <a:spcPct val="136296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NOT committed. For team-shared hooks use </a:t>
            </a:r>
            <a:pPr algn="l" indent="0" marL="0">
              <a:lnSpc>
                <a:spcPct val="136296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pre-commit </a:t>
            </a:r>
            <a:pPr algn="l" indent="0" marL="0">
              <a:lnSpc>
                <a:spcPct val="136296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(Python) or </a:t>
            </a:r>
            <a:pPr algn="l" indent="0" marL="0">
              <a:lnSpc>
                <a:spcPct val="136296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husky </a:t>
            </a:r>
            <a:pPr algn="l" indent="0" marL="0">
              <a:lnSpc>
                <a:spcPct val="136296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(Node).</a:t>
            </a:r>
            <a:endParaRPr lang="en-US" sz="1725" dirty="0"/>
          </a:p>
        </p:txBody>
      </p:sp>
      <p:sp>
        <p:nvSpPr>
          <p:cNvPr id="24" name="Text 22"/>
          <p:cNvSpPr/>
          <p:nvPr/>
        </p:nvSpPr>
        <p:spPr>
          <a:xfrm>
            <a:off x="11434763" y="5683448"/>
            <a:ext cx="7192804" cy="327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395"/>
              </a:lnSpc>
              <a:buNone/>
            </a:pPr>
            <a:r>
              <a:rPr lang="en-US" sz="1425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.git/hooks/はコミットされない。チーム共有にはpre-commitやhuskyを使う。</a:t>
            </a:r>
            <a:endParaRPr lang="en-US" sz="14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857250"/>
            <a:ext cx="171831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Worktrees: Two Branches, One Repo, No Stashing </a:t>
            </a:r>
            <a:pPr algn="l" indent="0" marL="0">
              <a:buNone/>
            </a:pPr>
            <a:r>
              <a:rPr lang="en-US" sz="22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LIVE DEMO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333500" y="1524000"/>
            <a:ext cx="171831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ワークツリー：2ブランチ・1リポジトリ・stash不要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333500" y="2238375"/>
            <a:ext cx="15621000" cy="1138238"/>
          </a:xfrm>
          <a:custGeom>
            <a:avLst/>
            <a:gdLst/>
            <a:ahLst/>
            <a:cxnLst/>
            <a:rect l="l" t="t" r="r" b="b"/>
            <a:pathLst>
              <a:path w="15621000" h="1138238">
                <a:moveTo>
                  <a:pt x="0" y="0"/>
                </a:moveTo>
                <a:lnTo>
                  <a:pt x="15506700" y="0"/>
                </a:lnTo>
                <a:arcTo hR="114300" wR="114300" stAng="16200000" swAng="5400000"/>
                <a:lnTo>
                  <a:pt x="15621000" y="1023938"/>
                </a:lnTo>
                <a:arcTo hR="114300" wR="114300" stAng="0" swAng="5400000"/>
                <a:lnTo>
                  <a:pt x="0" y="1138238"/>
                </a:lnTo>
                <a:lnTo>
                  <a:pt x="0" y="0"/>
                </a:lnTo>
                <a:close/>
              </a:path>
            </a:pathLst>
          </a:custGeom>
          <a:solidFill>
            <a:srgbClr val="161B22"/>
          </a:solidFill>
          <a:ln/>
        </p:spPr>
      </p:sp>
      <p:sp>
        <p:nvSpPr>
          <p:cNvPr id="5" name="Shape 3"/>
          <p:cNvSpPr/>
          <p:nvPr/>
        </p:nvSpPr>
        <p:spPr>
          <a:xfrm>
            <a:off x="1333500" y="2238375"/>
            <a:ext cx="57150" cy="1138238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6" name="Text 4"/>
          <p:cNvSpPr/>
          <p:nvPr/>
        </p:nvSpPr>
        <p:spPr>
          <a:xfrm>
            <a:off x="1695450" y="2466975"/>
            <a:ext cx="1644967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Scenario: deep in a refactor on </a:t>
            </a:r>
            <a:pPr algn="l" indent="0" marL="0">
              <a:buNone/>
            </a:pPr>
            <a:r>
              <a:rPr lang="en-US" sz="2025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feature/payments</a:t>
            </a:r>
            <a:pPr algn="l" indent="0" marL="0">
              <a:buNone/>
            </a:pPr>
            <a:r>
              <a:rPr lang="en-US" sz="202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Urgent bug arrives. Without worktrees: stash everything, switch, fix, pop, pray.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1695450" y="2857500"/>
            <a:ext cx="1644967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リファクタ中に緊急バグ。ワークツリーなしなら：全部stash → 切替 → 修正 → pop → 祈る。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333500" y="3681413"/>
            <a:ext cx="15621000" cy="4095750"/>
          </a:xfrm>
          <a:prstGeom prst="roundRect">
            <a:avLst>
              <a:gd name="adj" fmla="val 2791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85925" y="3995738"/>
            <a:ext cx="1536363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6271"/>
              </a:lnSpc>
              <a:buNone/>
            </a:pPr>
            <a:r>
              <a:rPr lang="en-US" sz="1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Second working directory — same .git, different folder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685925" y="4491038"/>
            <a:ext cx="1536363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6271"/>
              </a:lnSpc>
              <a:buNone/>
            </a:pPr>
            <a:r>
              <a:rPr lang="en-US" sz="19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worktree add ../payments-hotfix main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685925" y="4986338"/>
            <a:ext cx="1536363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6271"/>
              </a:lnSpc>
              <a:buNone/>
            </a:pPr>
            <a:r>
              <a:rPr lang="en-US" sz="1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/my-project ← feature/payments (untouched / 手つかず)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685925" y="5481638"/>
            <a:ext cx="1536363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6271"/>
              </a:lnSpc>
              <a:buNone/>
            </a:pPr>
            <a:r>
              <a:rPr lang="en-US" sz="1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/payments-hotfix ← main, clean slate / まっさら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685925" y="5976938"/>
            <a:ext cx="1536363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6271"/>
              </a:lnSpc>
              <a:buNone/>
            </a:pPr>
            <a:r>
              <a:rPr lang="en-US" sz="19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../payments-hotfix &amp;&amp; git checkout -b hotfix/crash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685925" y="6472238"/>
            <a:ext cx="1536363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6271"/>
              </a:lnSpc>
              <a:buNone/>
            </a:pPr>
            <a:r>
              <a:rPr lang="en-US" sz="1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fix → commit → push → PR, feature branch untouched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685925" y="6967538"/>
            <a:ext cx="1536363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6271"/>
              </a:lnSpc>
              <a:buNone/>
            </a:pPr>
            <a:r>
              <a:rPr lang="en-US" sz="19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worktree remove ../payments-hotfix </a:t>
            </a:r>
            <a:pPr algn="l" indent="0" marL="0">
              <a:lnSpc>
                <a:spcPct val="176271"/>
              </a:lnSpc>
              <a:buNone/>
            </a:pPr>
            <a:r>
              <a:rPr lang="en-US" sz="1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cleanup / 片付け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333500" y="8043863"/>
            <a:ext cx="1608963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folders share one </a:t>
            </a:r>
            <a:pPr algn="l" indent="0" marL="0">
              <a:buNone/>
            </a:pPr>
            <a:r>
              <a:rPr lang="en-US" sz="187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 </a:t>
            </a:r>
            <a:pPr algn="l" indent="0" marL="0">
              <a:buNone/>
            </a:pPr>
            <a:r>
              <a:rPr lang="en-US" sz="1875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you cannot check out the same branch twice. ／ 両フォルダは同じ.gitを共有。同じブランチは同時に2箇所でチェックアウト不可。</a:t>
            </a:r>
            <a:endParaRPr lang="en-US" sz="187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857250"/>
            <a:ext cx="171831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reflog: Git Almost Never Deletes Your Work </a:t>
            </a:r>
            <a:pPr algn="l" indent="0" marL="0">
              <a:buNone/>
            </a:pPr>
            <a:r>
              <a:rPr lang="en-US" sz="22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LIVE DEMO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333500" y="1524000"/>
            <a:ext cx="171831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reflog：Gitはあなたの作業をほぼ削除しない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333500" y="2124075"/>
            <a:ext cx="16089630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6462"/>
              </a:lnSpc>
              <a:buNone/>
            </a:pPr>
            <a:r>
              <a:rPr lang="en-US" sz="2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time HEAD moves — commit, reset, rebase, checkout — Git writes a diary entry. That diary is </a:t>
            </a:r>
            <a:pPr algn="l" indent="0" marL="0">
              <a:lnSpc>
                <a:spcPct val="146462"/>
              </a:lnSpc>
              <a:buNone/>
            </a:pPr>
            <a:r>
              <a:rPr lang="en-US" sz="2100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reflog </a:t>
            </a:r>
            <a:pPr algn="l" indent="0" marL="0">
              <a:lnSpc>
                <a:spcPct val="146462"/>
              </a:lnSpc>
              <a:buNone/>
            </a:pPr>
            <a:r>
              <a:rPr lang="en-US" sz="2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"Lost" commits are still there.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333500" y="3106936"/>
            <a:ext cx="171831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HEADが動くたびにGitは日記を書く。それがreflog。「消えた」コミットはまだそこにある。</a:t>
            </a:r>
            <a:endParaRPr lang="en-US" sz="1725" dirty="0"/>
          </a:p>
        </p:txBody>
      </p:sp>
      <p:sp>
        <p:nvSpPr>
          <p:cNvPr id="6" name="Shape 4"/>
          <p:cNvSpPr/>
          <p:nvPr/>
        </p:nvSpPr>
        <p:spPr>
          <a:xfrm>
            <a:off x="1333500" y="3749873"/>
            <a:ext cx="8920386" cy="5679877"/>
          </a:xfrm>
          <a:prstGeom prst="roundRect">
            <a:avLst>
              <a:gd name="adj" fmla="val 2012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85925" y="4064198"/>
            <a:ext cx="846200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439"/>
              </a:lnSpc>
              <a:buNone/>
            </a:pPr>
            <a:r>
              <a:rPr lang="en-US" sz="1875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reflog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1685925" y="4540448"/>
            <a:ext cx="846200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439"/>
              </a:lnSpc>
              <a:buNone/>
            </a:pPr>
            <a:r>
              <a:rPr lang="en-US" sz="1875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a3f9d82 </a:t>
            </a:r>
            <a:pPr algn="l" indent="0" marL="0">
              <a:lnSpc>
                <a:spcPct val="175439"/>
              </a:lnSpc>
              <a:buNone/>
            </a:pPr>
            <a:r>
              <a:rPr lang="en-US" sz="187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HEAD@{0}: commit: fix login flow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1685925" y="5016698"/>
            <a:ext cx="846200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439"/>
              </a:lnSpc>
              <a:buNone/>
            </a:pPr>
            <a:r>
              <a:rPr lang="en-US" sz="1875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f1e2c3d </a:t>
            </a:r>
            <a:pPr algn="l" indent="0" marL="0">
              <a:lnSpc>
                <a:spcPct val="175439"/>
              </a:lnSpc>
              <a:buNone/>
            </a:pPr>
            <a:r>
              <a:rPr lang="en-US" sz="187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HEAD@{1}: rebase (finish)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1685925" y="5492948"/>
            <a:ext cx="846200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439"/>
              </a:lnSpc>
              <a:buNone/>
            </a:pPr>
            <a:r>
              <a:rPr lang="en-US" sz="1875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3c2b1a0 </a:t>
            </a:r>
            <a:pPr algn="l" indent="0" marL="0">
              <a:lnSpc>
                <a:spcPct val="175439"/>
              </a:lnSpc>
              <a:buNone/>
            </a:pPr>
            <a:r>
              <a:rPr lang="en-US" sz="187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HEAD@{2}: checkout: main → feature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1685925" y="5969198"/>
            <a:ext cx="8215536" cy="476250"/>
          </a:xfrm>
          <a:prstGeom prst="roundRect">
            <a:avLst>
              <a:gd name="adj" fmla="val 12000"/>
            </a:avLst>
          </a:prstGeom>
          <a:solidFill>
            <a:srgbClr val="F85149">
              <a:alpha val="1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762125" y="5969198"/>
            <a:ext cx="830960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439"/>
              </a:lnSpc>
              <a:buNone/>
            </a:pPr>
            <a:r>
              <a:rPr lang="en-US" sz="1875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d4e5f6a </a:t>
            </a:r>
            <a:pPr algn="l" indent="0" marL="0">
              <a:lnSpc>
                <a:spcPct val="175439"/>
              </a:lnSpc>
              <a:buNone/>
            </a:pPr>
            <a:r>
              <a:rPr lang="en-US" sz="1875" dirty="0">
                <a:solidFill>
                  <a:srgbClr val="E6EDF3"/>
                </a:solidFill>
                <a:highlight>
                  <a:srgbClr val="FEE5E4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HEAD@{3}: reset --hard HEAD~3 </a:t>
            </a:r>
            <a:pPr algn="l" indent="0" marL="0">
              <a:lnSpc>
                <a:spcPct val="175439"/>
              </a:lnSpc>
              <a:buNone/>
            </a:pPr>
            <a:r>
              <a:rPr lang="en-US" sz="1875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oh no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1685925" y="6445448"/>
            <a:ext cx="8215536" cy="476250"/>
          </a:xfrm>
          <a:prstGeom prst="roundRect">
            <a:avLst>
              <a:gd name="adj" fmla="val 12000"/>
            </a:avLst>
          </a:prstGeom>
          <a:solidFill>
            <a:srgbClr val="3FB950">
              <a:alpha val="1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762125" y="6445448"/>
            <a:ext cx="830960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439"/>
              </a:lnSpc>
              <a:buNone/>
            </a:pPr>
            <a:r>
              <a:rPr lang="en-US" sz="1875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7a8b9c0 </a:t>
            </a:r>
            <a:pPr algn="l" indent="0" marL="0">
              <a:lnSpc>
                <a:spcPct val="175439"/>
              </a:lnSpc>
              <a:buNone/>
            </a:pPr>
            <a:r>
              <a:rPr lang="en-US" sz="1875" dirty="0">
                <a:solidFill>
                  <a:srgbClr val="E6EDF3"/>
                </a:solidFill>
                <a:highlight>
                  <a:srgbClr val="E2F5E5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HEAD@{4}: commit: precious work </a:t>
            </a:r>
            <a:pPr algn="l" indent="0" marL="0">
              <a:lnSpc>
                <a:spcPct val="175439"/>
              </a:lnSpc>
              <a:buNone/>
            </a:pPr>
            <a:r>
              <a:rPr lang="en-US" sz="1875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still here!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10634886" y="3749873"/>
            <a:ext cx="6319614" cy="2343150"/>
          </a:xfrm>
          <a:prstGeom prst="roundRect">
            <a:avLst>
              <a:gd name="adj" fmla="val 4878"/>
            </a:avLst>
          </a:prstGeom>
          <a:solidFill>
            <a:srgbClr val="161B22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49211" y="4026098"/>
            <a:ext cx="626006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recovery recipe / 復旧レシピはこれ1つ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0949211" y="4521398"/>
            <a:ext cx="5861693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6667"/>
              </a:lnSpc>
              <a:buNone/>
            </a:pPr>
            <a:r>
              <a:rPr lang="en-US" sz="1875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reflog </a:t>
            </a:r>
            <a:pPr algn="l" indent="0" marL="0">
              <a:lnSpc>
                <a:spcPct val="166667"/>
              </a:lnSpc>
              <a:buNone/>
            </a:pPr>
            <a:r>
              <a:rPr lang="en-US" sz="1875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find the good state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10949211" y="4973836"/>
            <a:ext cx="5861693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6667"/>
              </a:lnSpc>
              <a:buNone/>
            </a:pPr>
            <a:r>
              <a:rPr lang="en-US" sz="1875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reset --hard HEAD@{4}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10949211" y="5540573"/>
            <a:ext cx="626006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reflogで良い状態を見つけて、そこへ戻るだけ。</a:t>
            </a:r>
            <a:endParaRPr lang="en-US" sz="1575" dirty="0"/>
          </a:p>
        </p:txBody>
      </p:sp>
      <p:sp>
        <p:nvSpPr>
          <p:cNvPr id="20" name="Shape 18"/>
          <p:cNvSpPr/>
          <p:nvPr/>
        </p:nvSpPr>
        <p:spPr>
          <a:xfrm>
            <a:off x="10634886" y="6283523"/>
            <a:ext cx="6319614" cy="171450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49211" y="6559748"/>
            <a:ext cx="5861693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6552"/>
              </a:lnSpc>
              <a:buNone/>
            </a:pPr>
            <a:r>
              <a:rPr lang="en-US" sz="18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Deleted branch? Same idea: </a:t>
            </a:r>
            <a:pPr algn="l" indent="0" marL="0">
              <a:lnSpc>
                <a:spcPct val="146552"/>
              </a:lnSpc>
              <a:buNone/>
            </a:pPr>
            <a:r>
              <a:rPr lang="en-US" sz="1875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-b rescued HEAD@{N}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10949211" y="7445573"/>
            <a:ext cx="626006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削除したブランチも同じ考え方で復活できる。</a:t>
            </a:r>
            <a:endParaRPr lang="en-US" sz="157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857250"/>
            <a:ext cx="171831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'Oh No' Playbook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333500" y="1524000"/>
            <a:ext cx="171831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「やばい！」対処集 — 4つの事故、4つの復旧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333500" y="2314575"/>
            <a:ext cx="7677150" cy="3424238"/>
          </a:xfrm>
          <a:prstGeom prst="roundRect">
            <a:avLst>
              <a:gd name="adj" fmla="val 3338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7825" y="2628900"/>
            <a:ext cx="77533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committed to main by accident"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647825" y="2981325"/>
            <a:ext cx="775335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誤ってmainにコミットした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647825" y="3462338"/>
            <a:ext cx="7048500" cy="1553394"/>
          </a:xfrm>
          <a:prstGeom prst="roundRect">
            <a:avLst>
              <a:gd name="adj" fmla="val 4905"/>
            </a:avLst>
          </a:prstGeom>
          <a:solidFill>
            <a:srgbClr val="0D1117"/>
          </a:solidFill>
          <a:ln/>
        </p:spPr>
      </p:sp>
      <p:sp>
        <p:nvSpPr>
          <p:cNvPr id="8" name="Text 6"/>
          <p:cNvSpPr/>
          <p:nvPr/>
        </p:nvSpPr>
        <p:spPr>
          <a:xfrm>
            <a:off x="1838325" y="3614738"/>
            <a:ext cx="6867525" cy="454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8077"/>
              </a:lnSpc>
              <a:buNone/>
            </a:pPr>
            <a:r>
              <a:rPr lang="en-US" sz="1725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branch my-feature </a:t>
            </a:r>
            <a:pPr algn="l" indent="0" marL="0">
              <a:lnSpc>
                <a:spcPct val="168077"/>
              </a:lnSpc>
              <a:buNone/>
            </a:pPr>
            <a:r>
              <a:rPr lang="en-US" sz="1725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save work</a:t>
            </a:r>
            <a:endParaRPr lang="en-US" sz="1725" dirty="0"/>
          </a:p>
        </p:txBody>
      </p:sp>
      <p:sp>
        <p:nvSpPr>
          <p:cNvPr id="9" name="Text 7"/>
          <p:cNvSpPr/>
          <p:nvPr/>
        </p:nvSpPr>
        <p:spPr>
          <a:xfrm>
            <a:off x="1838325" y="4030935"/>
            <a:ext cx="6867525" cy="454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8077"/>
              </a:lnSpc>
              <a:buNone/>
            </a:pPr>
            <a:r>
              <a:rPr lang="en-US" sz="1725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reset --hard origin/main</a:t>
            </a:r>
            <a:endParaRPr lang="en-US" sz="1725" dirty="0"/>
          </a:p>
        </p:txBody>
      </p:sp>
      <p:sp>
        <p:nvSpPr>
          <p:cNvPr id="10" name="Text 8"/>
          <p:cNvSpPr/>
          <p:nvPr/>
        </p:nvSpPr>
        <p:spPr>
          <a:xfrm>
            <a:off x="1838325" y="4447133"/>
            <a:ext cx="6867525" cy="454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8077"/>
              </a:lnSpc>
              <a:buNone/>
            </a:pPr>
            <a:r>
              <a:rPr lang="en-US" sz="1725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commits are safe on my-feature</a:t>
            </a:r>
            <a:endParaRPr lang="en-US" sz="1725" dirty="0"/>
          </a:p>
        </p:txBody>
      </p:sp>
      <p:sp>
        <p:nvSpPr>
          <p:cNvPr id="11" name="Shape 9"/>
          <p:cNvSpPr/>
          <p:nvPr/>
        </p:nvSpPr>
        <p:spPr>
          <a:xfrm>
            <a:off x="9277350" y="2314575"/>
            <a:ext cx="7677150" cy="3424238"/>
          </a:xfrm>
          <a:prstGeom prst="roundRect">
            <a:avLst>
              <a:gd name="adj" fmla="val 3338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91675" y="2628900"/>
            <a:ext cx="77533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reset --hard and lost work"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591675" y="2981325"/>
            <a:ext cx="775335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reset --hardで作業が消えた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9591675" y="3462338"/>
            <a:ext cx="7048500" cy="1553394"/>
          </a:xfrm>
          <a:prstGeom prst="roundRect">
            <a:avLst>
              <a:gd name="adj" fmla="val 4905"/>
            </a:avLst>
          </a:prstGeom>
          <a:solidFill>
            <a:srgbClr val="0D1117"/>
          </a:solidFill>
          <a:ln/>
        </p:spPr>
      </p:sp>
      <p:sp>
        <p:nvSpPr>
          <p:cNvPr id="15" name="Text 13"/>
          <p:cNvSpPr/>
          <p:nvPr/>
        </p:nvSpPr>
        <p:spPr>
          <a:xfrm>
            <a:off x="9782175" y="3614738"/>
            <a:ext cx="6867525" cy="454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8077"/>
              </a:lnSpc>
              <a:buNone/>
            </a:pPr>
            <a:r>
              <a:rPr lang="en-US" sz="1725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reflog </a:t>
            </a:r>
            <a:pPr algn="l" indent="0" marL="0">
              <a:lnSpc>
                <a:spcPct val="168077"/>
              </a:lnSpc>
              <a:buNone/>
            </a:pPr>
            <a:r>
              <a:rPr lang="en-US" sz="1725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find the commit</a:t>
            </a:r>
            <a:endParaRPr lang="en-US" sz="1725" dirty="0"/>
          </a:p>
        </p:txBody>
      </p:sp>
      <p:sp>
        <p:nvSpPr>
          <p:cNvPr id="16" name="Text 14"/>
          <p:cNvSpPr/>
          <p:nvPr/>
        </p:nvSpPr>
        <p:spPr>
          <a:xfrm>
            <a:off x="9782175" y="4030935"/>
            <a:ext cx="6867525" cy="454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8077"/>
              </a:lnSpc>
              <a:buNone/>
            </a:pPr>
            <a:r>
              <a:rPr lang="en-US" sz="1725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reset --hard HEAD@{N}</a:t>
            </a:r>
            <a:endParaRPr lang="en-US" sz="1725" dirty="0"/>
          </a:p>
        </p:txBody>
      </p:sp>
      <p:sp>
        <p:nvSpPr>
          <p:cNvPr id="17" name="Text 15"/>
          <p:cNvSpPr/>
          <p:nvPr/>
        </p:nvSpPr>
        <p:spPr>
          <a:xfrm>
            <a:off x="9782175" y="4447133"/>
            <a:ext cx="6867525" cy="454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8077"/>
              </a:lnSpc>
              <a:buNone/>
            </a:pPr>
            <a:r>
              <a:rPr lang="en-US" sz="1725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nothing was ever deleted</a:t>
            </a:r>
            <a:endParaRPr lang="en-US" sz="1725" dirty="0"/>
          </a:p>
        </p:txBody>
      </p:sp>
      <p:sp>
        <p:nvSpPr>
          <p:cNvPr id="18" name="Shape 16"/>
          <p:cNvSpPr/>
          <p:nvPr/>
        </p:nvSpPr>
        <p:spPr>
          <a:xfrm>
            <a:off x="1333500" y="6005513"/>
            <a:ext cx="7677150" cy="3424238"/>
          </a:xfrm>
          <a:prstGeom prst="roundRect">
            <a:avLst>
              <a:gd name="adj" fmla="val 3338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47825" y="6319838"/>
            <a:ext cx="77533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committed a secret / API key"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647825" y="6672263"/>
            <a:ext cx="775335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シークレット・APIキーをコミットした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647825" y="7153275"/>
            <a:ext cx="7048500" cy="1553394"/>
          </a:xfrm>
          <a:prstGeom prst="roundRect">
            <a:avLst>
              <a:gd name="adj" fmla="val 4905"/>
            </a:avLst>
          </a:prstGeom>
          <a:solidFill>
            <a:srgbClr val="0D1117"/>
          </a:solidFill>
          <a:ln/>
        </p:spPr>
      </p:sp>
      <p:sp>
        <p:nvSpPr>
          <p:cNvPr id="22" name="Text 20"/>
          <p:cNvSpPr/>
          <p:nvPr/>
        </p:nvSpPr>
        <p:spPr>
          <a:xfrm>
            <a:off x="1838325" y="7305675"/>
            <a:ext cx="6867525" cy="454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8077"/>
              </a:lnSpc>
              <a:buNone/>
            </a:pPr>
            <a:r>
              <a:rPr lang="en-US" sz="1725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ROTATE THE KEY NOW（まずキー無効化）</a:t>
            </a:r>
            <a:endParaRPr lang="en-US" sz="1725" dirty="0"/>
          </a:p>
        </p:txBody>
      </p:sp>
      <p:sp>
        <p:nvSpPr>
          <p:cNvPr id="23" name="Text 21"/>
          <p:cNvSpPr/>
          <p:nvPr/>
        </p:nvSpPr>
        <p:spPr>
          <a:xfrm>
            <a:off x="1838325" y="7721873"/>
            <a:ext cx="6867525" cy="454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8077"/>
              </a:lnSpc>
              <a:buNone/>
            </a:pPr>
            <a:r>
              <a:rPr lang="en-US" sz="1725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filter-repo --path .env --invert-paths</a:t>
            </a:r>
            <a:endParaRPr lang="en-US" sz="1725" dirty="0"/>
          </a:p>
        </p:txBody>
      </p:sp>
      <p:sp>
        <p:nvSpPr>
          <p:cNvPr id="24" name="Text 22"/>
          <p:cNvSpPr/>
          <p:nvPr/>
        </p:nvSpPr>
        <p:spPr>
          <a:xfrm>
            <a:off x="1838325" y="8138071"/>
            <a:ext cx="6867525" cy="454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8077"/>
              </a:lnSpc>
              <a:buNone/>
            </a:pPr>
            <a:r>
              <a:rPr lang="en-US" sz="1725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then force-push — history is public</a:t>
            </a:r>
            <a:endParaRPr lang="en-US" sz="1725" dirty="0"/>
          </a:p>
        </p:txBody>
      </p:sp>
      <p:sp>
        <p:nvSpPr>
          <p:cNvPr id="25" name="Shape 23"/>
          <p:cNvSpPr/>
          <p:nvPr/>
        </p:nvSpPr>
        <p:spPr>
          <a:xfrm>
            <a:off x="9277350" y="6005513"/>
            <a:ext cx="7677150" cy="3424238"/>
          </a:xfrm>
          <a:prstGeom prst="roundRect">
            <a:avLst>
              <a:gd name="adj" fmla="val 3338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91675" y="6319838"/>
            <a:ext cx="77533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"My merge conflict got worse"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9591675" y="6672263"/>
            <a:ext cx="775335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マージコンフリクトが悪化した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9591675" y="7153275"/>
            <a:ext cx="7048500" cy="1553394"/>
          </a:xfrm>
          <a:prstGeom prst="roundRect">
            <a:avLst>
              <a:gd name="adj" fmla="val 4905"/>
            </a:avLst>
          </a:prstGeom>
          <a:solidFill>
            <a:srgbClr val="0D1117"/>
          </a:solidFill>
          <a:ln/>
        </p:spPr>
      </p:sp>
      <p:sp>
        <p:nvSpPr>
          <p:cNvPr id="29" name="Text 27"/>
          <p:cNvSpPr/>
          <p:nvPr/>
        </p:nvSpPr>
        <p:spPr>
          <a:xfrm>
            <a:off x="9782175" y="7305675"/>
            <a:ext cx="6867525" cy="454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8077"/>
              </a:lnSpc>
              <a:buNone/>
            </a:pPr>
            <a:r>
              <a:rPr lang="en-US" sz="1725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merge --abort </a:t>
            </a:r>
            <a:pPr algn="l" indent="0" marL="0">
              <a:lnSpc>
                <a:spcPct val="168077"/>
              </a:lnSpc>
              <a:buNone/>
            </a:pPr>
            <a:r>
              <a:rPr lang="en-US" sz="1725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start over</a:t>
            </a:r>
            <a:endParaRPr lang="en-US" sz="1725" dirty="0"/>
          </a:p>
        </p:txBody>
      </p:sp>
      <p:sp>
        <p:nvSpPr>
          <p:cNvPr id="30" name="Text 28"/>
          <p:cNvSpPr/>
          <p:nvPr/>
        </p:nvSpPr>
        <p:spPr>
          <a:xfrm>
            <a:off x="9782175" y="7721873"/>
            <a:ext cx="6867525" cy="454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8077"/>
              </a:lnSpc>
              <a:buNone/>
            </a:pPr>
            <a:r>
              <a:rPr lang="en-US" sz="1725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checkout --conflict=diff3 file</a:t>
            </a:r>
            <a:endParaRPr lang="en-US" sz="1725" dirty="0"/>
          </a:p>
        </p:txBody>
      </p:sp>
      <p:sp>
        <p:nvSpPr>
          <p:cNvPr id="31" name="Text 29"/>
          <p:cNvSpPr/>
          <p:nvPr/>
        </p:nvSpPr>
        <p:spPr>
          <a:xfrm>
            <a:off x="9782175" y="8138071"/>
            <a:ext cx="6867525" cy="454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8077"/>
              </a:lnSpc>
              <a:buNone/>
            </a:pPr>
            <a:r>
              <a:rPr lang="en-US" sz="1725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see ours/theirs/base — resolve fresh</a:t>
            </a:r>
            <a:endParaRPr lang="en-US" sz="17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762000"/>
            <a:ext cx="17183100" cy="709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Plan — 10:30 → 15:30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1333500" y="1471613"/>
            <a:ext cx="17183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今日の流れ — 講義2回 + 演習2回（合計4.5時間 + 休憩）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1333500" y="2195513"/>
            <a:ext cx="15621000" cy="766763"/>
          </a:xfrm>
          <a:prstGeom prst="roundRect">
            <a:avLst>
              <a:gd name="adj" fmla="val 12422"/>
            </a:avLst>
          </a:prstGeom>
          <a:solidFill>
            <a:srgbClr val="0D1117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7825" y="2433638"/>
            <a:ext cx="272415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10:30 · 40 min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4391025" y="2414588"/>
            <a:ext cx="1261662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1 — Git internals, branching, rewriting history (slides 1–14)</a:t>
            </a:r>
            <a:pPr algn="l" indent="0" marL="0">
              <a:buNone/>
            </a:pPr>
            <a:r>
              <a:rPr lang="en-US" sz="1575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講義1：内部構造・ブランチ・履歴の書き換え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333500" y="3114675"/>
            <a:ext cx="15621000" cy="1062038"/>
          </a:xfrm>
          <a:prstGeom prst="roundRect">
            <a:avLst>
              <a:gd name="adj" fmla="val 8969"/>
            </a:avLst>
          </a:prstGeom>
          <a:solidFill>
            <a:srgbClr val="0D1117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57350" y="3500438"/>
            <a:ext cx="272415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11:10 · 1.5 h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4400550" y="3343275"/>
            <a:ext cx="12597003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 1 — your OWN public repo · evidence in README.md · send me the URL </a:t>
            </a:r>
            <a:pPr algn="l" indent="0" marL="0">
              <a:buNone/>
            </a:pPr>
            <a:r>
              <a:rPr lang="en-US" sz="1575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演習1：自分の公開リポジトリ · README.mdに証拠 · URLを提出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333500" y="4329113"/>
            <a:ext cx="15621000" cy="809625"/>
          </a:xfrm>
          <a:prstGeom prst="roundRect">
            <a:avLst>
              <a:gd name="adj" fmla="val 11765"/>
            </a:avLst>
          </a:prstGeom>
          <a:solidFill>
            <a:srgbClr val="F0883E">
              <a:alpha val="8000"/>
            </a:srgbClr>
          </a:solidFill>
          <a:ln w="9525">
            <a:solidFill>
              <a:srgbClr val="F0883E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1647825" y="4588669"/>
            <a:ext cx="272415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12:40 · 30 min</a:t>
            </a:r>
            <a:endParaRPr lang="en-US" sz="2025" dirty="0"/>
          </a:p>
        </p:txBody>
      </p:sp>
      <p:sp>
        <p:nvSpPr>
          <p:cNvPr id="12" name="Text 10"/>
          <p:cNvSpPr/>
          <p:nvPr/>
        </p:nvSpPr>
        <p:spPr>
          <a:xfrm>
            <a:off x="4391025" y="4548188"/>
            <a:ext cx="1347406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/ 休憩 ☕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333500" y="5291138"/>
            <a:ext cx="15621000" cy="1042988"/>
          </a:xfrm>
          <a:prstGeom prst="roundRect">
            <a:avLst>
              <a:gd name="adj" fmla="val 9132"/>
            </a:avLst>
          </a:prstGeom>
          <a:solidFill>
            <a:srgbClr val="0D1117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47825" y="5667375"/>
            <a:ext cx="272415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13:10 · 20 min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4391025" y="5510213"/>
            <a:ext cx="12616625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2 — hooks, worktrees, reflog, disaster recovery (slides 15–20) </a:t>
            </a:r>
            <a:pPr algn="l" indent="0" marL="0">
              <a:buNone/>
            </a:pPr>
            <a:r>
              <a:rPr lang="en-US" sz="1575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講義2：フック・ワークツリー・reflog・障害復旧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333500" y="6486525"/>
            <a:ext cx="15621000" cy="1062038"/>
          </a:xfrm>
          <a:prstGeom prst="roundRect">
            <a:avLst>
              <a:gd name="adj" fmla="val 8969"/>
            </a:avLst>
          </a:prstGeom>
          <a:solidFill>
            <a:srgbClr val="0D1117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57350" y="6872288"/>
            <a:ext cx="272415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13:30 · 2 h</a:t>
            </a:r>
            <a:endParaRPr lang="en-US" sz="2025" dirty="0"/>
          </a:p>
        </p:txBody>
      </p:sp>
      <p:sp>
        <p:nvSpPr>
          <p:cNvPr id="18" name="Text 16"/>
          <p:cNvSpPr/>
          <p:nvPr/>
        </p:nvSpPr>
        <p:spPr>
          <a:xfrm>
            <a:off x="4400550" y="6715125"/>
            <a:ext cx="12597003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 2 — fork MY repo: profile, hooks, reflog drill → Pull Request </a:t>
            </a:r>
            <a:pPr algn="l" indent="0" marL="0">
              <a:buNone/>
            </a:pPr>
            <a:r>
              <a:rPr lang="en-US" sz="1575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演習2：先生のリポジトリをフォーク：プロフィール・フック・reflog → PR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33500" y="9191625"/>
            <a:ext cx="171831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F08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Deadline: PR opened by 15:30 ／ 締切：15:30までにPR作成</a:t>
            </a:r>
            <a:endParaRPr lang="en-US" sz="187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857250"/>
            <a:ext cx="171831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Submit: Two Things = Your Grade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333500" y="1524000"/>
            <a:ext cx="171831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提出物は2つ = あなたの成績（合格/不合格）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333500" y="2352675"/>
            <a:ext cx="7620000" cy="7077075"/>
          </a:xfrm>
          <a:prstGeom prst="roundRect">
            <a:avLst>
              <a:gd name="adj" fmla="val 1615"/>
            </a:avLst>
          </a:prstGeom>
          <a:solidFill>
            <a:srgbClr val="161B22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85925" y="2705100"/>
            <a:ext cx="760666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Exercise 1 — your repo URL / 演習1のURL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685925" y="3267075"/>
            <a:ext cx="7122605" cy="50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4667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Public repo </a:t>
            </a:r>
            <a:pPr algn="l" indent="0" marL="0">
              <a:lnSpc>
                <a:spcPct val="164667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git-practice-&lt;username&gt;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685925" y="3737595"/>
            <a:ext cx="7122605" cy="50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4667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README.md: all 6 internals answers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685925" y="4208115"/>
            <a:ext cx="7122605" cy="50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4667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Squash proof: before/after </a:t>
            </a:r>
            <a:pPr algn="l" indent="0" marL="0">
              <a:lnSpc>
                <a:spcPct val="164667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</a:t>
            </a:r>
            <a:pPr algn="l" indent="0" marL="0">
              <a:lnSpc>
                <a:spcPct val="164667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pasted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685925" y="4678635"/>
            <a:ext cx="7122605" cy="50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4667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Conflict block + resolution pasted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685925" y="5149155"/>
            <a:ext cx="7122605" cy="50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4667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Cherry-pick + stash outputs pasted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685925" y="5772076"/>
            <a:ext cx="7122605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91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公開リポジトリ・README完成・squash証明・コンフリクト証明・cherry-pick/stash証明。</a:t>
            </a:r>
            <a:endParaRPr lang="en-US" sz="1575" dirty="0"/>
          </a:p>
        </p:txBody>
      </p:sp>
      <p:sp>
        <p:nvSpPr>
          <p:cNvPr id="12" name="Shape 10"/>
          <p:cNvSpPr/>
          <p:nvPr/>
        </p:nvSpPr>
        <p:spPr>
          <a:xfrm>
            <a:off x="9334500" y="2352675"/>
            <a:ext cx="7620000" cy="7077075"/>
          </a:xfrm>
          <a:prstGeom prst="roundRect">
            <a:avLst>
              <a:gd name="adj" fmla="val 1615"/>
            </a:avLst>
          </a:prstGeom>
          <a:solidFill>
            <a:srgbClr val="161B22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86925" y="2705100"/>
            <a:ext cx="760666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Exercise 2 — Pull Request / 演習2のPR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686925" y="3267075"/>
            <a:ext cx="712260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7778"/>
              </a:lnSpc>
              <a:buNone/>
            </a:pPr>
            <a:r>
              <a:rPr lang="en-US" sz="18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push -u origin workshop/&lt;name&gt;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86925" y="3724275"/>
            <a:ext cx="712260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7778"/>
              </a:lnSpc>
              <a:buNone/>
            </a:pPr>
            <a:r>
              <a:rPr lang="en-US" sz="18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fork → Compare &amp; pull request → base: main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86925" y="4181475"/>
            <a:ext cx="712260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7778"/>
              </a:lnSpc>
              <a:buNone/>
            </a:pPr>
            <a:r>
              <a:rPr lang="en-US" sz="18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title: </a:t>
            </a:r>
            <a:pPr algn="l" indent="0" marL="0">
              <a:lnSpc>
                <a:spcPct val="177778"/>
              </a:lnSpc>
              <a:buNone/>
            </a:pPr>
            <a:r>
              <a:rPr lang="en-US" sz="1800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[workshop] Your Name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86925" y="4829175"/>
            <a:ext cx="7122605" cy="50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4667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</a:t>
            </a:r>
            <a:pPr algn="l" indent="0" marL="0">
              <a:lnSpc>
                <a:spcPct val="164667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students/&lt;username&gt;.json </a:t>
            </a:r>
            <a:pPr algn="l" indent="0" marL="0">
              <a:lnSpc>
                <a:spcPct val="164667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9686925" y="5299695"/>
            <a:ext cx="7122605" cy="50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4667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ANSWERS.md Q1–Q3: hook + reflog proof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686925" y="5770215"/>
            <a:ext cx="7122605" cy="50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4667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PR checklist ticked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9686925" y="6431235"/>
            <a:ext cx="760666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08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Deadline: 15:30 today ／ 締切：本日15:30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2026-08-23T12:18:58Z</dcterms:created>
  <dcterms:modified xsi:type="dcterms:W3CDTF">2026-08-23T12:18:58Z</dcterms:modified>
</cp:coreProperties>
</file>